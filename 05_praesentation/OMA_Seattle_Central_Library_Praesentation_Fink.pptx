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20 s)</a:t>
            </a:r>
          </a:p>
          <a:p/>
          <a:p>
            <a:r>
              <a:t>Die Seattle Central Library wurde 2004 eröffnet. Ich untersuche, wie OMA und LMN das Programm einer Bibliothek in eine räumliche Ordnung übersetzen. Im Mittelpunkt stehen die Plattformen, ihre öffentlichen Zwischenräume und die Book Spiral.</a:t>
            </a:r>
          </a:p>
          <a:p/>
          <a:p>
            <a:r>
              <a:t>Quellen: [OMA 1; SPL 2]</a:t>
            </a:r>
          </a:p>
          <a:p>
            <a:r>
              <a:t>Materialien: F01, P02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20 s)</a:t>
            </a:r>
          </a:p>
          <a:p/>
          <a:p>
            <a:r>
              <a:t>Das Haus ist der dritte Zentralbibliotheksbau am selben Standort. Der Neubau entstand aus dem 1998 beschlossenen Programm Libraries for All. Fast siebzig Prozent der Abstimmenden unterstützten es. Die Bibliothek war damit eine bewusst finanzierte öffentliche Infrastruktur. Die Baustellenaufnahme zeigt die Realisierung vor der Eröffnung am 23. Mai 2004.</a:t>
            </a:r>
          </a:p>
          <a:p/>
          <a:p>
            <a:r>
              <a:t>Quellen: [OMA 1; SPL 3]</a:t>
            </a:r>
          </a:p>
          <a:p>
            <a:r>
              <a:t>Materialien: F05, F17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18 s)</a:t>
            </a:r>
          </a:p>
          <a:p/>
          <a:p>
            <a:r>
              <a:t>Der Entwurf ist eine gemeinsame Arbeit von OMA und LMN Architects. OMA nennt Rem Koolhaas und Joshua Prince-Ramus als Partner. LMN verbindet die Entwurfsidee mit der Ausarbeitung vor Ort. MKA und Arup waren am Tragwerk beteiligt. Front und Seele entwickelten die komplexe Hülle mit. Die architektonische Wirkung ist Ergebnis dieser Zusammenarbeit.</a:t>
            </a:r>
          </a:p>
          <a:p/>
          <a:p>
            <a:r>
              <a:t>Quellen: [OMA 1; SPL 2; LMN 5; MKA 6; Front 7]</a:t>
            </a:r>
          </a:p>
          <a:p>
            <a:r>
              <a:t>Materialien: F02, F14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25 s)</a:t>
            </a:r>
          </a:p>
          <a:p/>
          <a:p>
            <a:r>
              <a:t>Die Bibliothek besetzt einen ganzen Block in Downtown Seattle und hält die Adresse der Vorgängerbauten. Die unterschiedlichen Straßenniveaus werden über zwei Zugänge eingebunden. An Fourth Avenue erreicht man den unteren Publikumsbereich, an Fifth Avenue den Living Room auf Ebene drei. Der Gebäudeschnitt erklärt die Stadtschwelle deshalb besser als die Silhouette allein.</a:t>
            </a:r>
          </a:p>
          <a:p/>
          <a:p>
            <a:r>
              <a:t>Quellen: [SPL 2–4; LMN 5; MKA 6]</a:t>
            </a:r>
          </a:p>
          <a:p>
            <a:r>
              <a:t>Materialien: P01, P06, A02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30 s)</a:t>
            </a:r>
          </a:p>
          <a:p/>
          <a:p>
            <a:r>
              <a:t>OMA bündelt das Raumprogramm in fünf feste Funktionscluster: Parken, Personal, Besprechung, Book Spiral und Verwaltung. Vier offenere Bereiche liegen dazwischen: Kinderbibliothek, Living Room, Mixing Chamber und Lesesaal. Die Bezeichnungen fest und offen beschreiben Nutzungsanforderungen. Sie sagen nichts über die bauliche Stabilität. Die Verschiebung dieser Bereiche erzeugt die charakteristische Gebäudeform.</a:t>
            </a:r>
          </a:p>
          <a:p/>
          <a:p>
            <a:r>
              <a:t>Quellen: [OMA 1; SPL 2; LMN 5]</a:t>
            </a:r>
          </a:p>
          <a:p>
            <a:r>
              <a:t>Materialien: A01, P02, F18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25 s)</a:t>
            </a:r>
          </a:p>
          <a:p/>
          <a:p>
            <a:r>
              <a:t>Die drei historischen Grundrisse zeigen drei unterschiedliche Aufgaben. Ebene drei bildet mit dem Living Room eine große Aufenthaltsfläche. Ebene fünf bündelt Beratung und Recherche in der Mixing Chamber. Ebene acht gehört zur Book Spiral. Statt überall denselben Bibliotheksgrundriss zu wiederholen, erhalten die Funktionen eigene räumliche Bedingungen. Die Zeichnungen sind historische Planstände, keine aktuellen Besucherpläne.</a:t>
            </a:r>
          </a:p>
          <a:p/>
          <a:p>
            <a:r>
              <a:t>Quellen: [OMA 1; LMN 5; SPL 16]</a:t>
            </a:r>
          </a:p>
          <a:p>
            <a:r>
              <a:t>Materialien: P03, P04, P05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33 s)</a:t>
            </a:r>
          </a:p>
          <a:p/>
          <a:p>
            <a:r>
              <a:t>Das wichtigste typologische Experiment ist die Book Spiral. Der Sachbuchbestand bildet über vier Ebenen eine kontinuierliche, rollstuhlgängige Folge. Die Dewey-Systematik bleibt zusammenhängend, statt an jeder Geschossgrenze zu enden. Wachsende Bereiche können Platz innerhalb dieser Folge gewinnen. OMA nennt für die Eröffnung 780.000 Bücher und eine mögliche Erweiterung auf 1,45 Millionen. Das sind historische Kapazitätsangaben.</a:t>
            </a:r>
          </a:p>
          <a:p/>
          <a:p>
            <a:r>
              <a:t>Quellen: [OMA 1; SPL 2; REX 15]</a:t>
            </a:r>
          </a:p>
          <a:p>
            <a:r>
              <a:t>Materialien: A03, F11, F12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22 s)</a:t>
            </a:r>
          </a:p>
          <a:p/>
          <a:p>
            <a:r>
              <a:t>Der Living Room ist ein öffentlicher Aufenthaltsraum, dessen Höhe laut Bibliothek bis zu fünfzehn Metern reicht. Zusammen mit Kinderbereich, Beratung und Veranstaltungen erweitert er die Bibliothek über das Bücherregal hinaus. Meine Lesart ist: Die entscheidende Offenheit liegt im Angebot und in der Zugänglichkeit. Die verglaste Fassade ist ein Ausdruck davon, aber kein ausreichender Beweis.</a:t>
            </a:r>
          </a:p>
          <a:p/>
          <a:p>
            <a:r>
              <a:t>Quellen: [SPL 2–4; SPL 16]</a:t>
            </a:r>
          </a:p>
          <a:p>
            <a:r>
              <a:t>Materialien: F06, F10, F15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28 s)</a:t>
            </a:r>
          </a:p>
          <a:p/>
          <a:p>
            <a:r>
              <a:t>Das Tragwerk übernimmt zwei Aufgaben. Mehrgeschossige Plattformfachwerke und geneigte Stützen tragen die vertikalen Lasten. Das diagonale Stahlgitter verbindet die Plattformen und steift das Gebäude gegen Wind und Erdbeben aus. Es trägt außerdem Teile der Hülle. Die Auskragungen reichen laut MKA bis fast sechzehn Meter. Das sichtbare Rautenraster ist deshalb zugleich Konstruktion und räumlicher Ausdruck.</a:t>
            </a:r>
          </a:p>
          <a:p/>
          <a:p>
            <a:r>
              <a:t>Quellen: [MKA 6; LMN 5]</a:t>
            </a:r>
          </a:p>
          <a:p>
            <a:r>
              <a:t>Materialien: A04, F14, P07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28 s)</a:t>
            </a:r>
          </a:p>
          <a:p/>
          <a:p>
            <a:r>
              <a:t>Die Hülle vereinheitlicht sehr unterschiedliche Fassadenneigungen durch ein Rautenmodul. Dahinter liegen verschiedene Profile und Befestigungen. An sonnenexponierten Stellen enthält die Verglasung ein Aluminiumgewebe. Es reduziert direkte Einstrahlung und ermöglicht zugleich den Blick nach außen. Hinzu kommen unterschiedliche Beschichtungen und Gasfüllungen. Die LEED-Silver-Zertifizierung dokumentiert einen Umweltstandard, erlaubt aber keine Aussage über den heutigen tatsächlichen Energieverbrauch.</a:t>
            </a:r>
          </a:p>
          <a:p/>
          <a:p>
            <a:r>
              <a:t>Quellen: [LMN 5; Front 7; MKA 6]</a:t>
            </a:r>
          </a:p>
          <a:p>
            <a:r>
              <a:t>Materialien: P09, F04, A05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15 s)</a:t>
            </a:r>
          </a:p>
          <a:p/>
          <a:p>
            <a:r>
              <a:t>Die Raumfolge wird auch atmosphärisch lesbar: der hohe Living Room, die roten Übergänge zu den Besprechungsräumen und der helle Lesesaal. Farbe, Raumhöhe und Ausblick unterscheiden die Funktionen. Die Bibliothek wird als Folge verschiedener Orte erlebt.</a:t>
            </a:r>
          </a:p>
          <a:p/>
          <a:p>
            <a:r>
              <a:t>Quellen: [OMA 1; SPL 2; SPL 16]</a:t>
            </a:r>
          </a:p>
          <a:p>
            <a:r>
              <a:t>Materialien: F06, F09, F07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18 s)</a:t>
            </a:r>
          </a:p>
          <a:p/>
          <a:p>
            <a:r>
              <a:t>Seattle gehört zu OMAs langfristiger Untersuchung der Bibliothek. Im nicht gebauten Jussieu-Entwurf von 1992 waren bereits zusammenhängende, verformte Ebenen wichtig. Seattle ordnet diese Idee über Plattformen und Zwischenräume. Spätere Bibliotheken in Caen und Qatar entwickeln weitere öffentliche Leselandschaften. Die Einordnung erklärt das Entwurfsinteresse; sie ist keine pauschale Gleichsetzung der Gebäude.</a:t>
            </a:r>
          </a:p>
          <a:p/>
          <a:p>
            <a:r>
              <a:t>Quellen: [OMA 10–12; SPL 2; MKA 6]</a:t>
            </a:r>
          </a:p>
          <a:p>
            <a:r>
              <a:t>Materialien: P02, F13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18 s)</a:t>
            </a:r>
          </a:p>
          <a:p/>
          <a:p>
            <a:r>
              <a:t>Übertragbar ist die Verbindung spezifischer Funktionsräume mit großzügigen öffentlichen Bereichen. Auch die kontinuierliche Sammlung und die zwei Stadtniveaus liefern Entwurfsprinzipien. Kritisch zu prüfen sind Orientierung, Flexibilität und Wartung der Hülle. Für die eigene Bibliotheksaufgabe hilft deshalb vor allem die räumliche Ordnung, nicht allein die markante Silhouette.</a:t>
            </a:r>
          </a:p>
          <a:p/>
          <a:p>
            <a:r>
              <a:t>Quellen: Eigene Schlussfolgerung nach [OMA 1; LMN 5; Brief 14]</a:t>
            </a:r>
          </a:p>
          <a:p>
            <a:r>
              <a:t>Materialien: A01, F01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0 s)</a:t>
            </a:r>
          </a:p>
          <a:p/>
          <a:p>
            <a:r>
              <a:t>Quellenanhang. Nicht Teil des fünfminütigen Sprechtexts. Die ausführliche Recherche enthält URLs, Belegstellen und Grenzen der Aussagen.</a:t>
            </a:r>
          </a:p>
          <a:p/>
          <a:p>
            <a:r>
              <a:t>Quellen: Rechercheabschluss: 11.10.2026 · vollständige Belegtexte im Repository</a:t>
            </a:r>
          </a:p>
          <a:p>
            <a:r>
              <a:t>Materialien: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0 s)</a:t>
            </a:r>
          </a:p>
          <a:p/>
          <a:p>
            <a:r>
              <a:t>Alle in der Präsentation verwendeten Materialien sind nachgewiesen. Fotos wurden teilweise für die Folien beschnitten; ihre jeweilige CC-Lizenz bleibt ausgewiesen. OMA/LMN-Pläne haben keine nachgewiesene offene Lizenz.</a:t>
            </a:r>
          </a:p>
          <a:p/>
          <a:p>
            <a:r>
              <a:t>Quellen: Vollständige Nachweise: 01_recherche/bildnachweis.md · Originale und Sidecars im Repository</a:t>
            </a:r>
          </a:p>
          <a:p>
            <a:r>
              <a:t>Materialien: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0 s)</a:t>
            </a:r>
          </a:p>
          <a:p/>
          <a:p>
            <a:r>
              <a:t>Zeichnungsanhang. Originalpläne und eigene Analyseskizzen sind getrennt ausgewiesen. Keine vermessene Einzelansicht oder garantierte Druckmaßstäblichkeit.</a:t>
            </a:r>
          </a:p>
          <a:p/>
          <a:p>
            <a:r>
              <a:t>Quellen: OMA/LMN-Pläne: keine offene Lizenz ausgewiesen · Analyseskizzen: ohne Maßstab</a:t>
            </a:r>
          </a:p>
          <a:p>
            <a:r>
              <a:t>Materialien: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www.oma.com/projects/seattle-central-library" TargetMode="External"/><Relationship Id="rId4" Type="http://schemas.openxmlformats.org/officeDocument/2006/relationships/image" Target="../media/image2.jpg"/><Relationship Id="rId5" Type="http://schemas.openxmlformats.org/officeDocument/2006/relationships/hyperlink" Target="https://commons.wikimedia.org/wiki/File:Seattle_(WA,_USA),_Seattle_Central_Library_--_2022_--_200930.jpg" TargetMode="Externa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hyperlink" Target="https://commons.wikimedia.org/wiki/File:Seattle_Central_Library_under_construction,_2003_(4440504145).jpg" TargetMode="External"/><Relationship Id="rId4" Type="http://schemas.openxmlformats.org/officeDocument/2006/relationships/image" Target="../media/image4.jpg"/><Relationship Id="rId5" Type="http://schemas.openxmlformats.org/officeDocument/2006/relationships/hyperlink" Target="https://commons.wikimedia.org/wiki/File:Seattle_Central_Library_interior.jpg" TargetMode="Externa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hyperlink" Target="https://commons.wikimedia.org/wiki/File:Seattle_Central_Library_(5763011359).jpg" TargetMode="External"/><Relationship Id="rId4" Type="http://schemas.openxmlformats.org/officeDocument/2006/relationships/image" Target="../media/image6.jpg"/><Relationship Id="rId5" Type="http://schemas.openxmlformats.org/officeDocument/2006/relationships/hyperlink" Target="https://commons.wikimedia.org/wiki/File:Seattle_library_framework_inside.jpg" TargetMode="Externa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hyperlink" Target="https://www.oma.com/projects/seattle-central-library" TargetMode="External"/><Relationship Id="rId4" Type="http://schemas.openxmlformats.org/officeDocument/2006/relationships/image" Target="../media/image8.jpg"/><Relationship Id="rId5" Type="http://schemas.openxmlformats.org/officeDocument/2006/relationships/hyperlink" Target="https://lmnarchitects.com/lmn-research/seattle-central-library-curtain-wall-design" TargetMode="External"/><Relationship Id="rId6" Type="http://schemas.openxmlformats.org/officeDocument/2006/relationships/image" Target="../media/image9.png"/><Relationship Id="rId7" Type="http://schemas.openxmlformats.org/officeDocument/2006/relationships/hyperlink" Target="#quellen" TargetMode="Externa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quellen" TargetMode="External"/><Relationship Id="rId4" Type="http://schemas.openxmlformats.org/officeDocument/2006/relationships/image" Target="../media/image1.jpg"/><Relationship Id="rId5" Type="http://schemas.openxmlformats.org/officeDocument/2006/relationships/hyperlink" Target="https://www.oma.com/projects/seattle-central-library" TargetMode="External"/><Relationship Id="rId6" Type="http://schemas.openxmlformats.org/officeDocument/2006/relationships/image" Target="../media/image11.jpg"/><Relationship Id="rId7" Type="http://schemas.openxmlformats.org/officeDocument/2006/relationships/hyperlink" Target="https://commons.wikimedia.org/wiki/File:Seattle_Central_Library_from_Fourth_%26_Madison_Building_-_Nov_2024.jpg" TargetMode="Externa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hyperlink" Target="https://lmnarchitects.com/lmn-research/seattle-central-library-curtain-wall-design" TargetMode="External"/><Relationship Id="rId4" Type="http://schemas.openxmlformats.org/officeDocument/2006/relationships/image" Target="../media/image13.jpg"/><Relationship Id="rId5" Type="http://schemas.openxmlformats.org/officeDocument/2006/relationships/hyperlink" Target="https://www.archdaily.com/11651/seattle-central-library-oma-lmn/57219188e58ece9438000007-seattle-central-library-oma-lmn-plan-5" TargetMode="External"/><Relationship Id="rId6" Type="http://schemas.openxmlformats.org/officeDocument/2006/relationships/image" Target="../media/image14.jpg"/><Relationship Id="rId7" Type="http://schemas.openxmlformats.org/officeDocument/2006/relationships/hyperlink" Target="https://www.archdaily.com/11651/seattle-central-library-oma-lmn/572191dee58ece9438000008-seattle-central-library-oma-lmn-plan-8" TargetMode="Externa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hyperlink" Target="#quellen" TargetMode="External"/><Relationship Id="rId4" Type="http://schemas.openxmlformats.org/officeDocument/2006/relationships/image" Target="../media/image16.jpg"/><Relationship Id="rId5" Type="http://schemas.openxmlformats.org/officeDocument/2006/relationships/hyperlink" Target="https://commons.wikimedia.org/wiki/File:Books_Spiral_-_Technology_-_Flickr_-_brewbooks.jpg" TargetMode="External"/><Relationship Id="rId6" Type="http://schemas.openxmlformats.org/officeDocument/2006/relationships/image" Target="../media/image17.jpg"/><Relationship Id="rId7" Type="http://schemas.openxmlformats.org/officeDocument/2006/relationships/hyperlink" Target="https://commons.wikimedia.org/wiki/File:Near_the_top_of_the_Book_Spiral_-_Flickr_-_brewbooks.jpg" TargetMode="Externa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hyperlink" Target="https://commons.wikimedia.org/wiki/File:Seattle-Public-Library-3rd-floor-2393.jpg" TargetMode="External"/><Relationship Id="rId4" Type="http://schemas.openxmlformats.org/officeDocument/2006/relationships/image" Target="../media/image19.jpg"/><Relationship Id="rId5" Type="http://schemas.openxmlformats.org/officeDocument/2006/relationships/hyperlink" Target="https://commons.wikimedia.org/wiki/File:Mixing_Chamber_and_offices_-_Seattle_Central_Library_(178839789).jpg" TargetMode="External"/><Relationship Id="rId6" Type="http://schemas.openxmlformats.org/officeDocument/2006/relationships/image" Target="../media/image20.jpg"/><Relationship Id="rId7" Type="http://schemas.openxmlformats.org/officeDocument/2006/relationships/hyperlink" Target="https://commons.wikimedia.org/wiki/File:Childrens_Library_Seattle_Central_Library_(259437129).jpg" TargetMode="Externa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hyperlink" Target="#quellen" TargetMode="External"/><Relationship Id="rId4" Type="http://schemas.openxmlformats.org/officeDocument/2006/relationships/image" Target="../media/image6.jpg"/><Relationship Id="rId5" Type="http://schemas.openxmlformats.org/officeDocument/2006/relationships/hyperlink" Target="https://commons.wikimedia.org/wiki/File:Seattle_library_framework_inside.jpg" TargetMode="External"/><Relationship Id="rId6" Type="http://schemas.openxmlformats.org/officeDocument/2006/relationships/image" Target="../media/image22.jpg"/><Relationship Id="rId7" Type="http://schemas.openxmlformats.org/officeDocument/2006/relationships/hyperlink" Target="https://lmnarchitects.com/lmn-research/seattle-central-library-curtain-wall-design" TargetMode="Externa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hyperlink" Target="https://lmnarchitects.com/lmn-research/seattle-central-library-curtain-wall-design" TargetMode="External"/><Relationship Id="rId4" Type="http://schemas.openxmlformats.org/officeDocument/2006/relationships/image" Target="../media/image24.jpg"/><Relationship Id="rId5" Type="http://schemas.openxmlformats.org/officeDocument/2006/relationships/hyperlink" Target="https://commons.wikimedia.org/wiki/File:Grid_System_(5613157595).jpg" TargetMode="External"/><Relationship Id="rId6" Type="http://schemas.openxmlformats.org/officeDocument/2006/relationships/image" Target="../media/image25.png"/><Relationship Id="rId7" Type="http://schemas.openxmlformats.org/officeDocument/2006/relationships/hyperlink" Target="#quellen" TargetMode="Externa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hyperlink" Target="https://commons.wikimedia.org/wiki/File:Seattle-Public-Library-3rd-floor-2393.jpg" TargetMode="External"/><Relationship Id="rId4" Type="http://schemas.openxmlformats.org/officeDocument/2006/relationships/image" Target="../media/image26.jpg"/><Relationship Id="rId5" Type="http://schemas.openxmlformats.org/officeDocument/2006/relationships/hyperlink" Target="https://commons.wikimedia.org/wiki/File:Red_rooms_(3233624954).jpg" TargetMode="External"/><Relationship Id="rId6" Type="http://schemas.openxmlformats.org/officeDocument/2006/relationships/image" Target="../media/image27.jpg"/><Relationship Id="rId7" Type="http://schemas.openxmlformats.org/officeDocument/2006/relationships/hyperlink" Target="https://commons.wikimedia.org/wiki/File:Seattle_Public_Library_Main_Branch_Reading_Room.JPG" TargetMode="Externa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www.oma.com/projects/seattle-central-library" TargetMode="External"/><Relationship Id="rId4" Type="http://schemas.openxmlformats.org/officeDocument/2006/relationships/image" Target="../media/image28.jpg"/><Relationship Id="rId5" Type="http://schemas.openxmlformats.org/officeDocument/2006/relationships/hyperlink" Target="https://commons.wikimedia.org/wiki/File:River_of_Books_-_Flickr_-_brewbooks.jpg" TargetMode="Externa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quellen" TargetMode="External"/><Relationship Id="rId4" Type="http://schemas.openxmlformats.org/officeDocument/2006/relationships/image" Target="../media/image2.jpg"/><Relationship Id="rId5" Type="http://schemas.openxmlformats.org/officeDocument/2006/relationships/hyperlink" Target="https://commons.wikimedia.org/wiki/File:Seattle_(WA,_USA),_Seattle_Central_Library_--_2022_--_200930.jpg" TargetMode="Externa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ma.com/projects/seattle-central-library" TargetMode="External"/><Relationship Id="rId3" Type="http://schemas.openxmlformats.org/officeDocument/2006/relationships/hyperlink" Target="https://www.spl.org/hours-and-locations/central-library/central-library-highlights/central-library-architecture" TargetMode="External"/><Relationship Id="rId4" Type="http://schemas.openxmlformats.org/officeDocument/2006/relationships/hyperlink" Target="https://www.spl.org/hours-and-locations/central-library/central-library-highlights/central-library-history" TargetMode="External"/><Relationship Id="rId5" Type="http://schemas.openxmlformats.org/officeDocument/2006/relationships/hyperlink" Target="https://www.spl.org/hours-and-locations/central-library/central-library-highlights" TargetMode="External"/><Relationship Id="rId6" Type="http://schemas.openxmlformats.org/officeDocument/2006/relationships/hyperlink" Target="https://lmnarchitects.com/lmn-research/seattle-central-library-curtain-wall-design" TargetMode="External"/><Relationship Id="rId7" Type="http://schemas.openxmlformats.org/officeDocument/2006/relationships/hyperlink" Target="https://www.mka.com/projects/seattle-central-library/" TargetMode="External"/><Relationship Id="rId8" Type="http://schemas.openxmlformats.org/officeDocument/2006/relationships/hyperlink" Target="https://front.global/project/seattle-central-library/" TargetMode="External"/><Relationship Id="rId9" Type="http://schemas.openxmlformats.org/officeDocument/2006/relationships/hyperlink" Target="https://www.pritzkerprize.com/laureates/2000" TargetMode="External"/><Relationship Id="rId10" Type="http://schemas.openxmlformats.org/officeDocument/2006/relationships/hyperlink" Target="https://www.oma.com/office" TargetMode="External"/><Relationship Id="rId11" Type="http://schemas.openxmlformats.org/officeDocument/2006/relationships/hyperlink" Target="https://www.oma.com/projects/jussieu-two-libraries" TargetMode="External"/><Relationship Id="rId12" Type="http://schemas.openxmlformats.org/officeDocument/2006/relationships/hyperlink" Target="https://www.oma.com/projects/qatar-national-library" TargetMode="External"/><Relationship Id="rId13" Type="http://schemas.openxmlformats.org/officeDocument/2006/relationships/hyperlink" Target="https://www.oma.com/projects/bibliotheque-alexis-de-tocqueville" TargetMode="External"/><Relationship Id="rId14" Type="http://schemas.openxmlformats.org/officeDocument/2006/relationships/hyperlink" Target="https://www.spl.org/hours-and-locations/central-library/central-library-highlights/central-library-art" TargetMode="External"/><Relationship Id="rId15" Type="http://schemas.openxmlformats.org/officeDocument/2006/relationships/hyperlink" Target="00_quellen/aufgabe_voruebung_wise26-27.pdf" TargetMode="External"/><Relationship Id="rId16" Type="http://schemas.openxmlformats.org/officeDocument/2006/relationships/hyperlink" Target="https://rex-ny.com/project/seattle-library/" TargetMode="External"/><Relationship Id="rId17" Type="http://schemas.openxmlformats.org/officeDocument/2006/relationships/hyperlink" Target="https://www.spl.org/Seattle-Public-Library/documents/transcriptions/tours/Central-Library-Audio-Tour.pdf" TargetMode="External"/><Relationship Id="rId18" Type="http://schemas.openxmlformats.org/officeDocument/2006/relationships/hyperlink" Target="https://www.spl.org/hours-and-locations/central-library/central-library-highlights/central-library-tours" TargetMode="External"/><Relationship Id="rId1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mmons.wikimedia.org/wiki/File:Seattle_(WA,_USA),_Seattle_Central_Library_--_2022_--_200930.jpg" TargetMode="External"/><Relationship Id="rId3" Type="http://schemas.openxmlformats.org/officeDocument/2006/relationships/hyperlink" Target="https://commons.wikimedia.org/wiki/File:Seattle_Central_Library_(5763011359).jpg" TargetMode="External"/><Relationship Id="rId4" Type="http://schemas.openxmlformats.org/officeDocument/2006/relationships/hyperlink" Target="https://commons.wikimedia.org/wiki/File:Grid_System_(5613157595).jpg" TargetMode="External"/><Relationship Id="rId5" Type="http://schemas.openxmlformats.org/officeDocument/2006/relationships/hyperlink" Target="https://commons.wikimedia.org/wiki/File:Seattle_Central_Library_under_construction,_2003_(4440504145).jpg" TargetMode="External"/><Relationship Id="rId6" Type="http://schemas.openxmlformats.org/officeDocument/2006/relationships/hyperlink" Target="https://commons.wikimedia.org/wiki/File:Seattle-Public-Library-3rd-floor-2393.jpg" TargetMode="External"/><Relationship Id="rId7" Type="http://schemas.openxmlformats.org/officeDocument/2006/relationships/hyperlink" Target="https://commons.wikimedia.org/wiki/File:Seattle_Public_Library_Main_Branch_Reading_Room.JPG" TargetMode="External"/><Relationship Id="rId8" Type="http://schemas.openxmlformats.org/officeDocument/2006/relationships/hyperlink" Target="https://commons.wikimedia.org/wiki/File:Red_rooms_(3233624954).jpg" TargetMode="External"/><Relationship Id="rId9" Type="http://schemas.openxmlformats.org/officeDocument/2006/relationships/hyperlink" Target="https://commons.wikimedia.org/wiki/File:Mixing_Chamber_and_offices_-_Seattle_Central_Library_(178839789).jpg" TargetMode="External"/><Relationship Id="rId10" Type="http://schemas.openxmlformats.org/officeDocument/2006/relationships/hyperlink" Target="https://commons.wikimedia.org/wiki/File:Books_Spiral_-_Technology_-_Flickr_-_brewbooks.jpg" TargetMode="External"/><Relationship Id="rId11" Type="http://schemas.openxmlformats.org/officeDocument/2006/relationships/hyperlink" Target="https://commons.wikimedia.org/wiki/File:Near_the_top_of_the_Book_Spiral_-_Flickr_-_brewbooks.jpg" TargetMode="External"/><Relationship Id="rId12" Type="http://schemas.openxmlformats.org/officeDocument/2006/relationships/hyperlink" Target="https://commons.wikimedia.org/wiki/File:River_of_Books_-_Flickr_-_brewbooks.jpg" TargetMode="External"/><Relationship Id="rId13" Type="http://schemas.openxmlformats.org/officeDocument/2006/relationships/hyperlink" Target="https://commons.wikimedia.org/wiki/File:Seattle_library_framework_inside.jpg" TargetMode="External"/><Relationship Id="rId14" Type="http://schemas.openxmlformats.org/officeDocument/2006/relationships/hyperlink" Target="https://commons.wikimedia.org/wiki/File:Childrens_Library_Seattle_Central_Library_(259437129).jpg" TargetMode="External"/><Relationship Id="rId15" Type="http://schemas.openxmlformats.org/officeDocument/2006/relationships/hyperlink" Target="https://commons.wikimedia.org/wiki/File:Seattle_Central_Library_interior.jpg" TargetMode="External"/><Relationship Id="rId16" Type="http://schemas.openxmlformats.org/officeDocument/2006/relationships/hyperlink" Target="https://commons.wikimedia.org/wiki/File:Seattle_Central_Library_from_Fourth_%26_Madison_Building_-_Nov_2024.jpg" TargetMode="External"/><Relationship Id="rId1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ma.com/projects/seattle-central-library" TargetMode="External"/><Relationship Id="rId3" Type="http://schemas.openxmlformats.org/officeDocument/2006/relationships/hyperlink" Target="https://lmnarchitects.com/lmn-research/seattle-central-library-curtain-wall-design" TargetMode="External"/><Relationship Id="rId4" Type="http://schemas.openxmlformats.org/officeDocument/2006/relationships/hyperlink" Target="https://www.archdaily.com/11651/seattle-central-library-oma-lmn/57219188e58ece9438000007-seattle-central-library-oma-lmn-plan-5" TargetMode="External"/><Relationship Id="rId5" Type="http://schemas.openxmlformats.org/officeDocument/2006/relationships/hyperlink" Target="https://www.archdaily.com/11651/seattle-central-library-oma-lmn/572191dee58ece9438000008-seattle-central-library-oma-lmn-plan-8" TargetMode="External"/><Relationship Id="rId6"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5486400" cy="274320"/>
          </a:xfrm>
          <a:prstGeom prst="rect">
            <a:avLst/>
          </a:prstGeom>
          <a:noFill/>
        </p:spPr>
        <p:txBody>
          <a:bodyPr wrap="square" lIns="0" rIns="0" tIns="0" bIns="0">
            <a:spAutoFit/>
          </a:bodyPr>
          <a:lstStyle/>
          <a:p>
            <a:pPr>
              <a:defRPr sz="1000" b="0">
                <a:solidFill>
                  <a:srgbClr val="D9EF65"/>
                </a:solidFill>
                <a:latin typeface="Courier New"/>
              </a:defRPr>
            </a:pPr>
            <a:r>
              <a:t>OMA + LMN / SEATTLE / 2004</a:t>
            </a:r>
          </a:p>
        </p:txBody>
      </p:sp>
      <p:sp>
        <p:nvSpPr>
          <p:cNvPr id="3" name="TextBox 2"/>
          <p:cNvSpPr txBox="1"/>
          <p:nvPr/>
        </p:nvSpPr>
        <p:spPr>
          <a:xfrm>
            <a:off x="457200" y="914400"/>
            <a:ext cx="5486400" cy="1920240"/>
          </a:xfrm>
          <a:prstGeom prst="rect">
            <a:avLst/>
          </a:prstGeom>
          <a:noFill/>
        </p:spPr>
        <p:txBody>
          <a:bodyPr wrap="square" lIns="0" rIns="0" tIns="0" bIns="0">
            <a:spAutoFit/>
          </a:bodyPr>
          <a:lstStyle/>
          <a:p>
            <a:pPr>
              <a:defRPr sz="5400" b="0">
                <a:solidFill>
                  <a:srgbClr val="F4F6ED"/>
                </a:solidFill>
                <a:latin typeface="Georgia"/>
              </a:defRPr>
            </a:pPr>
            <a:r>
              <a:t>Seattle</a:t>
            </a:r>
          </a:p>
          <a:p>
            <a:pPr>
              <a:defRPr sz="5400" b="0">
                <a:solidFill>
                  <a:srgbClr val="F4F6ED"/>
                </a:solidFill>
                <a:latin typeface="Georgia"/>
              </a:defRPr>
            </a:pPr>
            <a:r>
              <a:t>Central Library.</a:t>
            </a:r>
          </a:p>
        </p:txBody>
      </p:sp>
      <p:sp>
        <p:nvSpPr>
          <p:cNvPr id="4" name="TextBox 3"/>
          <p:cNvSpPr txBox="1"/>
          <p:nvPr/>
        </p:nvSpPr>
        <p:spPr>
          <a:xfrm>
            <a:off x="457200" y="3108960"/>
            <a:ext cx="4846320" cy="731520"/>
          </a:xfrm>
          <a:prstGeom prst="rect">
            <a:avLst/>
          </a:prstGeom>
          <a:noFill/>
        </p:spPr>
        <p:txBody>
          <a:bodyPr wrap="square" lIns="0" rIns="0" tIns="0" bIns="0">
            <a:spAutoFit/>
          </a:bodyPr>
          <a:lstStyle/>
          <a:p>
            <a:pPr>
              <a:defRPr sz="1700" b="0">
                <a:solidFill>
                  <a:srgbClr val="F4F6ED"/>
                </a:solidFill>
                <a:latin typeface="Arial"/>
              </a:defRPr>
            </a:pPr>
            <a:r>
              <a:t>Eine öffentliche Bibliothek als räumliche Informationslandschaft.</a:t>
            </a:r>
          </a:p>
        </p:txBody>
      </p:sp>
      <p:pic>
        <p:nvPicPr>
          <p:cNvPr id="5" name="Picture 4" descr="Programm-Schnitt: Plattformen und öffentliche Zwischenräume; OMA; © OMA / LMN · keine offene Lizenz angegeben"/>
          <p:cNvPicPr>
            <a:picLocks noChangeAspect="1"/>
          </p:cNvPicPr>
          <p:nvPr/>
        </p:nvPicPr>
        <p:blipFill>
          <a:blip r:embed="rId2"/>
          <a:stretch>
            <a:fillRect/>
          </a:stretch>
        </p:blipFill>
        <p:spPr>
          <a:xfrm>
            <a:off x="613335" y="4114800"/>
            <a:ext cx="1607968" cy="1572768"/>
          </a:xfrm>
          <a:prstGeom prst="rect">
            <a:avLst/>
          </a:prstGeom>
        </p:spPr>
      </p:pic>
      <p:sp>
        <p:nvSpPr>
          <p:cNvPr id="6" name="TextBox 5"/>
          <p:cNvSpPr txBox="1"/>
          <p:nvPr/>
        </p:nvSpPr>
        <p:spPr>
          <a:xfrm>
            <a:off x="457200" y="5760720"/>
            <a:ext cx="1920240" cy="182880"/>
          </a:xfrm>
          <a:prstGeom prst="rect">
            <a:avLst/>
          </a:prstGeom>
          <a:noFill/>
        </p:spPr>
        <p:txBody>
          <a:bodyPr wrap="square" lIns="0" rIns="0" tIns="0" bIns="0">
            <a:spAutoFit/>
          </a:bodyPr>
          <a:lstStyle/>
          <a:p>
            <a:pPr>
              <a:defRPr sz="819" b="0">
                <a:solidFill>
                  <a:srgbClr val="CCD1C2"/>
                </a:solidFill>
                <a:latin typeface="Arial"/>
              </a:defRPr>
            </a:pPr>
            <a:r>
              <a:t>P02 / Programm-Schnitt: Plattformen und öffentliche Zwischenräume</a:t>
            </a:r>
          </a:p>
        </p:txBody>
      </p:sp>
      <p:sp>
        <p:nvSpPr>
          <p:cNvPr id="7" name="TextBox 6"/>
          <p:cNvSpPr txBox="1"/>
          <p:nvPr/>
        </p:nvSpPr>
        <p:spPr>
          <a:xfrm>
            <a:off x="457200" y="5916168"/>
            <a:ext cx="1920240" cy="237744"/>
          </a:xfrm>
          <a:prstGeom prst="rect">
            <a:avLst/>
          </a:prstGeom>
          <a:noFill/>
        </p:spPr>
        <p:txBody>
          <a:bodyPr wrap="square" lIns="0" rIns="0" tIns="0" bIns="0">
            <a:spAutoFit/>
          </a:bodyPr>
          <a:lstStyle/>
          <a:p>
            <a:pPr>
              <a:defRPr sz="720" b="0">
                <a:solidFill>
                  <a:srgbClr val="CCD1C2"/>
                </a:solidFill>
                <a:latin typeface="Arial"/>
              </a:defRPr>
            </a:pPr>
            <a:r>
              <a:rPr>
                <a:hlinkClick r:id="rId3"/>
              </a:rPr>
              <a:t>OMA · © OMA / LMN · keine offene Lizenz angegeben</a:t>
            </a:r>
          </a:p>
        </p:txBody>
      </p:sp>
      <p:pic>
        <p:nvPicPr>
          <p:cNvPr id="8" name="Picture 7" descr="Stadtblock und kristalline Hülle; Dietmar Rabich; CC BY-SA 4.0"/>
          <p:cNvPicPr>
            <a:picLocks noChangeAspect="1"/>
          </p:cNvPicPr>
          <p:nvPr/>
        </p:nvPicPr>
        <p:blipFill>
          <a:blip r:embed="rId4"/>
          <a:srcRect l="4407" r="4407"/>
          <a:stretch>
            <a:fillRect/>
          </a:stretch>
        </p:blipFill>
        <p:spPr>
          <a:xfrm>
            <a:off x="6217920" y="384048"/>
            <a:ext cx="5486400" cy="5349240"/>
          </a:xfrm>
          <a:prstGeom prst="rect">
            <a:avLst/>
          </a:prstGeom>
        </p:spPr>
      </p:pic>
      <p:sp>
        <p:nvSpPr>
          <p:cNvPr id="9" name="TextBox 8"/>
          <p:cNvSpPr txBox="1"/>
          <p:nvPr/>
        </p:nvSpPr>
        <p:spPr>
          <a:xfrm>
            <a:off x="6217920" y="5806440"/>
            <a:ext cx="5486400" cy="182880"/>
          </a:xfrm>
          <a:prstGeom prst="rect">
            <a:avLst/>
          </a:prstGeom>
          <a:noFill/>
        </p:spPr>
        <p:txBody>
          <a:bodyPr wrap="square" lIns="0" rIns="0" tIns="0" bIns="0">
            <a:spAutoFit/>
          </a:bodyPr>
          <a:lstStyle/>
          <a:p>
            <a:pPr>
              <a:defRPr sz="819" b="0">
                <a:solidFill>
                  <a:srgbClr val="CCD1C2"/>
                </a:solidFill>
                <a:latin typeface="Arial"/>
              </a:defRPr>
            </a:pPr>
            <a:r>
              <a:t>F01 / Stadtblock und kristalline Hülle</a:t>
            </a:r>
          </a:p>
        </p:txBody>
      </p:sp>
      <p:sp>
        <p:nvSpPr>
          <p:cNvPr id="10" name="TextBox 9"/>
          <p:cNvSpPr txBox="1"/>
          <p:nvPr/>
        </p:nvSpPr>
        <p:spPr>
          <a:xfrm>
            <a:off x="6217920" y="5961888"/>
            <a:ext cx="5486400" cy="237744"/>
          </a:xfrm>
          <a:prstGeom prst="rect">
            <a:avLst/>
          </a:prstGeom>
          <a:noFill/>
        </p:spPr>
        <p:txBody>
          <a:bodyPr wrap="square" lIns="0" rIns="0" tIns="0" bIns="0">
            <a:spAutoFit/>
          </a:bodyPr>
          <a:lstStyle/>
          <a:p>
            <a:pPr>
              <a:defRPr sz="720" b="0">
                <a:solidFill>
                  <a:srgbClr val="CCD1C2"/>
                </a:solidFill>
                <a:latin typeface="Arial"/>
              </a:defRPr>
            </a:pPr>
            <a:r>
              <a:rPr>
                <a:hlinkClick r:id="rId5"/>
              </a:rPr>
              <a:t>Dietmar Rabich · CC BY-SA 4.0</a:t>
            </a:r>
          </a:p>
        </p:txBody>
      </p:sp>
      <p:sp>
        <p:nvSpPr>
          <p:cNvPr id="11" name="TextBox 10"/>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[OMA 1; SPL 2]</a:t>
            </a:r>
          </a:p>
        </p:txBody>
      </p:sp>
      <p:sp>
        <p:nvSpPr>
          <p:cNvPr id="12" name="TextBox 11"/>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01 / ERBAUUNG</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Ein öffentlicher Auftrag</a:t>
            </a:r>
          </a:p>
        </p:txBody>
      </p:sp>
      <p:sp>
        <p:nvSpPr>
          <p:cNvPr id="4" name="TextBox 3"/>
          <p:cNvSpPr txBox="1"/>
          <p:nvPr/>
        </p:nvSpPr>
        <p:spPr>
          <a:xfrm>
            <a:off x="457200" y="1517904"/>
            <a:ext cx="3605784" cy="640080"/>
          </a:xfrm>
          <a:prstGeom prst="rect">
            <a:avLst/>
          </a:prstGeom>
          <a:noFill/>
        </p:spPr>
        <p:txBody>
          <a:bodyPr wrap="square" lIns="0" rIns="0" tIns="0" bIns="0">
            <a:spAutoFit/>
          </a:bodyPr>
          <a:lstStyle/>
          <a:p>
            <a:pPr>
              <a:defRPr sz="1200" b="0">
                <a:solidFill>
                  <a:srgbClr val="F4F6ED"/>
                </a:solidFill>
                <a:latin typeface="Arial"/>
              </a:defRPr>
            </a:pPr>
            <a:r>
              <a:t>1906 → 1960 → 2004: dritter Bau am selben Standort.</a:t>
            </a:r>
          </a:p>
        </p:txBody>
      </p:sp>
      <p:sp>
        <p:nvSpPr>
          <p:cNvPr id="5" name="TextBox 4"/>
          <p:cNvSpPr txBox="1"/>
          <p:nvPr/>
        </p:nvSpPr>
        <p:spPr>
          <a:xfrm>
            <a:off x="4291584" y="1517904"/>
            <a:ext cx="3605784" cy="640080"/>
          </a:xfrm>
          <a:prstGeom prst="rect">
            <a:avLst/>
          </a:prstGeom>
          <a:noFill/>
        </p:spPr>
        <p:txBody>
          <a:bodyPr wrap="square" lIns="0" rIns="0" tIns="0" bIns="0">
            <a:spAutoFit/>
          </a:bodyPr>
          <a:lstStyle/>
          <a:p>
            <a:pPr>
              <a:defRPr sz="1200" b="0">
                <a:solidFill>
                  <a:srgbClr val="F4F6ED"/>
                </a:solidFill>
                <a:latin typeface="Arial"/>
              </a:defRPr>
            </a:pPr>
            <a:r>
              <a:t>1998: Libraries for All erhält nahezu 70 % Zustimmung.</a:t>
            </a:r>
          </a:p>
        </p:txBody>
      </p:sp>
      <p:sp>
        <p:nvSpPr>
          <p:cNvPr id="6" name="TextBox 5"/>
          <p:cNvSpPr txBox="1"/>
          <p:nvPr/>
        </p:nvSpPr>
        <p:spPr>
          <a:xfrm>
            <a:off x="8125968" y="1517904"/>
            <a:ext cx="3605784" cy="640080"/>
          </a:xfrm>
          <a:prstGeom prst="rect">
            <a:avLst/>
          </a:prstGeom>
          <a:noFill/>
        </p:spPr>
        <p:txBody>
          <a:bodyPr wrap="square" lIns="0" rIns="0" tIns="0" bIns="0">
            <a:spAutoFit/>
          </a:bodyPr>
          <a:lstStyle/>
          <a:p>
            <a:pPr>
              <a:defRPr sz="1200" b="0">
                <a:solidFill>
                  <a:srgbClr val="F4F6ED"/>
                </a:solidFill>
                <a:latin typeface="Arial"/>
              </a:defRPr>
            </a:pPr>
            <a:r>
              <a:t>23. Mai 2004: Eröffnung.</a:t>
            </a:r>
          </a:p>
        </p:txBody>
      </p:sp>
      <p:pic>
        <p:nvPicPr>
          <p:cNvPr id="7" name="Picture 6" descr="Bauphase · 12. August 2003; Seattle Municipal Archives from Seattle, WA; CC BY 2.0"/>
          <p:cNvPicPr>
            <a:picLocks noChangeAspect="1"/>
          </p:cNvPicPr>
          <p:nvPr/>
        </p:nvPicPr>
        <p:blipFill>
          <a:blip r:embed="rId2"/>
          <a:srcRect t="4283" b="4283"/>
          <a:stretch>
            <a:fillRect/>
          </a:stretch>
        </p:blipFill>
        <p:spPr>
          <a:xfrm>
            <a:off x="457200" y="2286000"/>
            <a:ext cx="5559552" cy="3401568"/>
          </a:xfrm>
          <a:prstGeom prst="rect">
            <a:avLst/>
          </a:prstGeom>
        </p:spPr>
      </p:pic>
      <p:sp>
        <p:nvSpPr>
          <p:cNvPr id="8" name="TextBox 7"/>
          <p:cNvSpPr txBox="1"/>
          <p:nvPr/>
        </p:nvSpPr>
        <p:spPr>
          <a:xfrm>
            <a:off x="457200" y="5760720"/>
            <a:ext cx="5559552" cy="182880"/>
          </a:xfrm>
          <a:prstGeom prst="rect">
            <a:avLst/>
          </a:prstGeom>
          <a:noFill/>
        </p:spPr>
        <p:txBody>
          <a:bodyPr wrap="square" lIns="0" rIns="0" tIns="0" bIns="0">
            <a:spAutoFit/>
          </a:bodyPr>
          <a:lstStyle/>
          <a:p>
            <a:pPr>
              <a:defRPr sz="819" b="0">
                <a:solidFill>
                  <a:srgbClr val="CCD1C2"/>
                </a:solidFill>
                <a:latin typeface="Arial"/>
              </a:defRPr>
            </a:pPr>
            <a:r>
              <a:t>F05 / Bauphase · 12. August 2003</a:t>
            </a:r>
          </a:p>
        </p:txBody>
      </p:sp>
      <p:sp>
        <p:nvSpPr>
          <p:cNvPr id="9" name="TextBox 8"/>
          <p:cNvSpPr txBox="1"/>
          <p:nvPr/>
        </p:nvSpPr>
        <p:spPr>
          <a:xfrm>
            <a:off x="457200" y="5916168"/>
            <a:ext cx="5559552" cy="237744"/>
          </a:xfrm>
          <a:prstGeom prst="rect">
            <a:avLst/>
          </a:prstGeom>
          <a:noFill/>
        </p:spPr>
        <p:txBody>
          <a:bodyPr wrap="square" lIns="0" rIns="0" tIns="0" bIns="0">
            <a:spAutoFit/>
          </a:bodyPr>
          <a:lstStyle/>
          <a:p>
            <a:pPr>
              <a:defRPr sz="720" b="0">
                <a:solidFill>
                  <a:srgbClr val="CCD1C2"/>
                </a:solidFill>
                <a:latin typeface="Arial"/>
              </a:defRPr>
            </a:pPr>
            <a:r>
              <a:rPr>
                <a:hlinkClick r:id="rId3"/>
              </a:rPr>
              <a:t>Seattle Municipal Archives from Seattle, WA · CC BY 2.0</a:t>
            </a:r>
          </a:p>
        </p:txBody>
      </p:sp>
      <p:pic>
        <p:nvPicPr>
          <p:cNvPr id="10" name="Picture 9" descr="Innenaufnahme im Eröffnungsjahr 2004; Jim Harper; CC BY-SA 1.0"/>
          <p:cNvPicPr>
            <a:picLocks noChangeAspect="1"/>
          </p:cNvPicPr>
          <p:nvPr/>
        </p:nvPicPr>
        <p:blipFill>
          <a:blip r:embed="rId4"/>
          <a:srcRect t="27056" b="27056"/>
          <a:stretch>
            <a:fillRect/>
          </a:stretch>
        </p:blipFill>
        <p:spPr>
          <a:xfrm>
            <a:off x="6172200" y="2286000"/>
            <a:ext cx="5559552" cy="3401568"/>
          </a:xfrm>
          <a:prstGeom prst="rect">
            <a:avLst/>
          </a:prstGeom>
        </p:spPr>
      </p:pic>
      <p:sp>
        <p:nvSpPr>
          <p:cNvPr id="11" name="TextBox 10"/>
          <p:cNvSpPr txBox="1"/>
          <p:nvPr/>
        </p:nvSpPr>
        <p:spPr>
          <a:xfrm>
            <a:off x="6172200" y="5760720"/>
            <a:ext cx="5559552" cy="182880"/>
          </a:xfrm>
          <a:prstGeom prst="rect">
            <a:avLst/>
          </a:prstGeom>
          <a:noFill/>
        </p:spPr>
        <p:txBody>
          <a:bodyPr wrap="square" lIns="0" rIns="0" tIns="0" bIns="0">
            <a:spAutoFit/>
          </a:bodyPr>
          <a:lstStyle/>
          <a:p>
            <a:pPr>
              <a:defRPr sz="819" b="0">
                <a:solidFill>
                  <a:srgbClr val="CCD1C2"/>
                </a:solidFill>
                <a:latin typeface="Arial"/>
              </a:defRPr>
            </a:pPr>
            <a:r>
              <a:t>F17 / Innenaufnahme im Eröffnungsjahr 2004</a:t>
            </a:r>
          </a:p>
        </p:txBody>
      </p:sp>
      <p:sp>
        <p:nvSpPr>
          <p:cNvPr id="12" name="TextBox 11"/>
          <p:cNvSpPr txBox="1"/>
          <p:nvPr/>
        </p:nvSpPr>
        <p:spPr>
          <a:xfrm>
            <a:off x="6172200" y="5916168"/>
            <a:ext cx="5559552" cy="237744"/>
          </a:xfrm>
          <a:prstGeom prst="rect">
            <a:avLst/>
          </a:prstGeom>
          <a:noFill/>
        </p:spPr>
        <p:txBody>
          <a:bodyPr wrap="square" lIns="0" rIns="0" tIns="0" bIns="0">
            <a:spAutoFit/>
          </a:bodyPr>
          <a:lstStyle/>
          <a:p>
            <a:pPr>
              <a:defRPr sz="720" b="0">
                <a:solidFill>
                  <a:srgbClr val="CCD1C2"/>
                </a:solidFill>
                <a:latin typeface="Arial"/>
              </a:defRPr>
            </a:pPr>
            <a:r>
              <a:rPr>
                <a:hlinkClick r:id="rId5"/>
              </a:rPr>
              <a:t>Jim Harper · CC BY-SA 1.0</a:t>
            </a:r>
          </a:p>
        </p:txBody>
      </p:sp>
      <p:sp>
        <p:nvSpPr>
          <p:cNvPr id="13" name="TextBox 12"/>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[OMA 1; SPL 3]</a:t>
            </a:r>
          </a:p>
        </p:txBody>
      </p:sp>
      <p:sp>
        <p:nvSpPr>
          <p:cNvPr id="14" name="TextBox 13"/>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02 / ARCHITEKT</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OMA / LMN: ein gemeinsamer Entwurf</a:t>
            </a:r>
          </a:p>
        </p:txBody>
      </p:sp>
      <p:sp>
        <p:nvSpPr>
          <p:cNvPr id="4" name="TextBox 3"/>
          <p:cNvSpPr txBox="1"/>
          <p:nvPr/>
        </p:nvSpPr>
        <p:spPr>
          <a:xfrm>
            <a:off x="457200" y="1517904"/>
            <a:ext cx="3605784" cy="640080"/>
          </a:xfrm>
          <a:prstGeom prst="rect">
            <a:avLst/>
          </a:prstGeom>
          <a:noFill/>
        </p:spPr>
        <p:txBody>
          <a:bodyPr wrap="square" lIns="0" rIns="0" tIns="0" bIns="0">
            <a:spAutoFit/>
          </a:bodyPr>
          <a:lstStyle/>
          <a:p>
            <a:pPr>
              <a:defRPr sz="1200" b="0">
                <a:solidFill>
                  <a:srgbClr val="F4F6ED"/>
                </a:solidFill>
                <a:latin typeface="Arial"/>
              </a:defRPr>
            </a:pPr>
            <a:r>
              <a:t>Rem Koolhaas + Joshua Prince-Ramus: OMA-Partner.</a:t>
            </a:r>
          </a:p>
        </p:txBody>
      </p:sp>
      <p:sp>
        <p:nvSpPr>
          <p:cNvPr id="5" name="TextBox 4"/>
          <p:cNvSpPr txBox="1"/>
          <p:nvPr/>
        </p:nvSpPr>
        <p:spPr>
          <a:xfrm>
            <a:off x="4291584" y="1517904"/>
            <a:ext cx="3605784" cy="640080"/>
          </a:xfrm>
          <a:prstGeom prst="rect">
            <a:avLst/>
          </a:prstGeom>
          <a:noFill/>
        </p:spPr>
        <p:txBody>
          <a:bodyPr wrap="square" lIns="0" rIns="0" tIns="0" bIns="0">
            <a:spAutoFit/>
          </a:bodyPr>
          <a:lstStyle/>
          <a:p>
            <a:pPr>
              <a:defRPr sz="1200" b="0">
                <a:solidFill>
                  <a:srgbClr val="F4F6ED"/>
                </a:solidFill>
                <a:latin typeface="Arial"/>
              </a:defRPr>
            </a:pPr>
            <a:r>
              <a:t>LMN Architects: Joint Venture mit dem lokalen Büro.</a:t>
            </a:r>
          </a:p>
        </p:txBody>
      </p:sp>
      <p:sp>
        <p:nvSpPr>
          <p:cNvPr id="6" name="TextBox 5"/>
          <p:cNvSpPr txBox="1"/>
          <p:nvPr/>
        </p:nvSpPr>
        <p:spPr>
          <a:xfrm>
            <a:off x="8125968" y="1517904"/>
            <a:ext cx="3605784" cy="640080"/>
          </a:xfrm>
          <a:prstGeom prst="rect">
            <a:avLst/>
          </a:prstGeom>
          <a:noFill/>
        </p:spPr>
        <p:txBody>
          <a:bodyPr wrap="square" lIns="0" rIns="0" tIns="0" bIns="0">
            <a:spAutoFit/>
          </a:bodyPr>
          <a:lstStyle/>
          <a:p>
            <a:pPr>
              <a:defRPr sz="1200" b="0">
                <a:solidFill>
                  <a:srgbClr val="F4F6ED"/>
                </a:solidFill>
                <a:latin typeface="Arial"/>
              </a:defRPr>
            </a:pPr>
            <a:r>
              <a:t>MKA / Arup: Tragwerk · Front / Seele: Fassadenentwicklung.</a:t>
            </a:r>
          </a:p>
        </p:txBody>
      </p:sp>
      <p:pic>
        <p:nvPicPr>
          <p:cNvPr id="7" name="Picture 6" descr="Außenansicht von Fifth Avenue / Madison Street; Andrew Smith from Seattle, WA, USA; CC BY-SA 2.0"/>
          <p:cNvPicPr>
            <a:picLocks noChangeAspect="1"/>
          </p:cNvPicPr>
          <p:nvPr/>
        </p:nvPicPr>
        <p:blipFill>
          <a:blip r:embed="rId2"/>
          <a:srcRect t="391" b="391"/>
          <a:stretch>
            <a:fillRect/>
          </a:stretch>
        </p:blipFill>
        <p:spPr>
          <a:xfrm>
            <a:off x="457200" y="2286000"/>
            <a:ext cx="5559552" cy="3401568"/>
          </a:xfrm>
          <a:prstGeom prst="rect">
            <a:avLst/>
          </a:prstGeom>
        </p:spPr>
      </p:pic>
      <p:sp>
        <p:nvSpPr>
          <p:cNvPr id="8" name="TextBox 7"/>
          <p:cNvSpPr txBox="1"/>
          <p:nvPr/>
        </p:nvSpPr>
        <p:spPr>
          <a:xfrm>
            <a:off x="457200" y="5760720"/>
            <a:ext cx="5559552" cy="182880"/>
          </a:xfrm>
          <a:prstGeom prst="rect">
            <a:avLst/>
          </a:prstGeom>
          <a:noFill/>
        </p:spPr>
        <p:txBody>
          <a:bodyPr wrap="square" lIns="0" rIns="0" tIns="0" bIns="0">
            <a:spAutoFit/>
          </a:bodyPr>
          <a:lstStyle/>
          <a:p>
            <a:pPr>
              <a:defRPr sz="819" b="0">
                <a:solidFill>
                  <a:srgbClr val="CCD1C2"/>
                </a:solidFill>
                <a:latin typeface="Arial"/>
              </a:defRPr>
            </a:pPr>
            <a:r>
              <a:t>F02 / Außenansicht von Fifth Avenue / Madison Street</a:t>
            </a:r>
          </a:p>
        </p:txBody>
      </p:sp>
      <p:sp>
        <p:nvSpPr>
          <p:cNvPr id="9" name="TextBox 8"/>
          <p:cNvSpPr txBox="1"/>
          <p:nvPr/>
        </p:nvSpPr>
        <p:spPr>
          <a:xfrm>
            <a:off x="457200" y="5916168"/>
            <a:ext cx="5559552" cy="237744"/>
          </a:xfrm>
          <a:prstGeom prst="rect">
            <a:avLst/>
          </a:prstGeom>
          <a:noFill/>
        </p:spPr>
        <p:txBody>
          <a:bodyPr wrap="square" lIns="0" rIns="0" tIns="0" bIns="0">
            <a:spAutoFit/>
          </a:bodyPr>
          <a:lstStyle/>
          <a:p>
            <a:pPr>
              <a:defRPr sz="720" b="0">
                <a:solidFill>
                  <a:srgbClr val="CCD1C2"/>
                </a:solidFill>
                <a:latin typeface="Arial"/>
              </a:defRPr>
            </a:pPr>
            <a:r>
              <a:rPr>
                <a:hlinkClick r:id="rId3"/>
              </a:rPr>
              <a:t>Andrew Smith from Seattle, WA, USA · CC BY-SA 2.0</a:t>
            </a:r>
          </a:p>
        </p:txBody>
      </p:sp>
      <p:pic>
        <p:nvPicPr>
          <p:cNvPr id="10" name="Picture 9" descr="Diagonales Stahlgitter im Innenraum; Jan Tik; CC BY 2.0"/>
          <p:cNvPicPr>
            <a:picLocks noChangeAspect="1"/>
          </p:cNvPicPr>
          <p:nvPr/>
        </p:nvPicPr>
        <p:blipFill>
          <a:blip r:embed="rId4"/>
          <a:srcRect t="9211" b="9211"/>
          <a:stretch>
            <a:fillRect/>
          </a:stretch>
        </p:blipFill>
        <p:spPr>
          <a:xfrm>
            <a:off x="6172200" y="2286000"/>
            <a:ext cx="5559552" cy="3401568"/>
          </a:xfrm>
          <a:prstGeom prst="rect">
            <a:avLst/>
          </a:prstGeom>
        </p:spPr>
      </p:pic>
      <p:sp>
        <p:nvSpPr>
          <p:cNvPr id="11" name="TextBox 10"/>
          <p:cNvSpPr txBox="1"/>
          <p:nvPr/>
        </p:nvSpPr>
        <p:spPr>
          <a:xfrm>
            <a:off x="6172200" y="5760720"/>
            <a:ext cx="5559552" cy="182880"/>
          </a:xfrm>
          <a:prstGeom prst="rect">
            <a:avLst/>
          </a:prstGeom>
          <a:noFill/>
        </p:spPr>
        <p:txBody>
          <a:bodyPr wrap="square" lIns="0" rIns="0" tIns="0" bIns="0">
            <a:spAutoFit/>
          </a:bodyPr>
          <a:lstStyle/>
          <a:p>
            <a:pPr>
              <a:defRPr sz="819" b="0">
                <a:solidFill>
                  <a:srgbClr val="CCD1C2"/>
                </a:solidFill>
                <a:latin typeface="Arial"/>
              </a:defRPr>
            </a:pPr>
            <a:r>
              <a:t>F14 / Diagonales Stahlgitter im Innenraum</a:t>
            </a:r>
          </a:p>
        </p:txBody>
      </p:sp>
      <p:sp>
        <p:nvSpPr>
          <p:cNvPr id="12" name="TextBox 11"/>
          <p:cNvSpPr txBox="1"/>
          <p:nvPr/>
        </p:nvSpPr>
        <p:spPr>
          <a:xfrm>
            <a:off x="6172200" y="5916168"/>
            <a:ext cx="5559552" cy="237744"/>
          </a:xfrm>
          <a:prstGeom prst="rect">
            <a:avLst/>
          </a:prstGeom>
          <a:noFill/>
        </p:spPr>
        <p:txBody>
          <a:bodyPr wrap="square" lIns="0" rIns="0" tIns="0" bIns="0">
            <a:spAutoFit/>
          </a:bodyPr>
          <a:lstStyle/>
          <a:p>
            <a:pPr>
              <a:defRPr sz="720" b="0">
                <a:solidFill>
                  <a:srgbClr val="CCD1C2"/>
                </a:solidFill>
                <a:latin typeface="Arial"/>
              </a:defRPr>
            </a:pPr>
            <a:r>
              <a:rPr>
                <a:hlinkClick r:id="rId5"/>
              </a:rPr>
              <a:t>Jan Tik · CC BY 2.0</a:t>
            </a:r>
          </a:p>
        </p:txBody>
      </p:sp>
      <p:sp>
        <p:nvSpPr>
          <p:cNvPr id="13" name="TextBox 12"/>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[OMA 1; SPL 2; LMN 5; MKA 6; Front 7]</a:t>
            </a:r>
          </a:p>
        </p:txBody>
      </p:sp>
      <p:sp>
        <p:nvSpPr>
          <p:cNvPr id="14" name="TextBox 13"/>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03 / KONTEXT &amp; STADTSCHWELLE</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Ein Stadtblock, zwei Zugänge</a:t>
            </a:r>
          </a:p>
        </p:txBody>
      </p:sp>
      <p:sp>
        <p:nvSpPr>
          <p:cNvPr id="4" name="TextBox 3"/>
          <p:cNvSpPr txBox="1"/>
          <p:nvPr/>
        </p:nvSpPr>
        <p:spPr>
          <a:xfrm>
            <a:off x="457200" y="1517904"/>
            <a:ext cx="3605784" cy="640080"/>
          </a:xfrm>
          <a:prstGeom prst="rect">
            <a:avLst/>
          </a:prstGeom>
          <a:noFill/>
        </p:spPr>
        <p:txBody>
          <a:bodyPr wrap="square" lIns="0" rIns="0" tIns="0" bIns="0">
            <a:spAutoFit/>
          </a:bodyPr>
          <a:lstStyle/>
          <a:p>
            <a:pPr>
              <a:defRPr sz="1200" b="0">
                <a:solidFill>
                  <a:srgbClr val="F4F6ED"/>
                </a:solidFill>
                <a:latin typeface="Arial"/>
              </a:defRPr>
            </a:pPr>
            <a:r>
              <a:t>Fourth Avenue → unterer öffentlicher Bereich.</a:t>
            </a:r>
          </a:p>
        </p:txBody>
      </p:sp>
      <p:sp>
        <p:nvSpPr>
          <p:cNvPr id="5" name="TextBox 4"/>
          <p:cNvSpPr txBox="1"/>
          <p:nvPr/>
        </p:nvSpPr>
        <p:spPr>
          <a:xfrm>
            <a:off x="4291584" y="1517904"/>
            <a:ext cx="3605784" cy="640080"/>
          </a:xfrm>
          <a:prstGeom prst="rect">
            <a:avLst/>
          </a:prstGeom>
          <a:noFill/>
        </p:spPr>
        <p:txBody>
          <a:bodyPr wrap="square" lIns="0" rIns="0" tIns="0" bIns="0">
            <a:spAutoFit/>
          </a:bodyPr>
          <a:lstStyle/>
          <a:p>
            <a:pPr>
              <a:defRPr sz="1200" b="0">
                <a:solidFill>
                  <a:srgbClr val="F4F6ED"/>
                </a:solidFill>
                <a:latin typeface="Arial"/>
              </a:defRPr>
            </a:pPr>
            <a:r>
              <a:t>Fifth Avenue → Living Room auf Level 3.</a:t>
            </a:r>
          </a:p>
        </p:txBody>
      </p:sp>
      <p:sp>
        <p:nvSpPr>
          <p:cNvPr id="6" name="TextBox 5"/>
          <p:cNvSpPr txBox="1"/>
          <p:nvPr/>
        </p:nvSpPr>
        <p:spPr>
          <a:xfrm>
            <a:off x="8125968" y="1517904"/>
            <a:ext cx="3605784" cy="640080"/>
          </a:xfrm>
          <a:prstGeom prst="rect">
            <a:avLst/>
          </a:prstGeom>
          <a:noFill/>
        </p:spPr>
        <p:txBody>
          <a:bodyPr wrap="square" lIns="0" rIns="0" tIns="0" bIns="0">
            <a:spAutoFit/>
          </a:bodyPr>
          <a:lstStyle/>
          <a:p>
            <a:pPr>
              <a:defRPr sz="1200" b="0">
                <a:solidFill>
                  <a:srgbClr val="F4F6ED"/>
                </a:solidFill>
                <a:latin typeface="Arial"/>
              </a:defRPr>
            </a:pPr>
            <a:r>
              <a:t>Der Schnitt verbindet Stadt und Innenraum.</a:t>
            </a:r>
          </a:p>
        </p:txBody>
      </p:sp>
      <p:pic>
        <p:nvPicPr>
          <p:cNvPr id="7" name="Picture 6" descr="Lageplan: Sichtachsen zur Elliott Bay, zum Mount Rainier und von I-5; OMA; © OMA / LMN · keine offene Lizenz angegeben"/>
          <p:cNvPicPr>
            <a:picLocks noChangeAspect="1"/>
          </p:cNvPicPr>
          <p:nvPr/>
        </p:nvPicPr>
        <p:blipFill>
          <a:blip r:embed="rId2"/>
          <a:stretch>
            <a:fillRect/>
          </a:stretch>
        </p:blipFill>
        <p:spPr>
          <a:xfrm>
            <a:off x="785516" y="2286000"/>
            <a:ext cx="2997918" cy="3401568"/>
          </a:xfrm>
          <a:prstGeom prst="rect">
            <a:avLst/>
          </a:prstGeom>
        </p:spPr>
      </p:pic>
      <p:sp>
        <p:nvSpPr>
          <p:cNvPr id="8" name="TextBox 7"/>
          <p:cNvSpPr txBox="1"/>
          <p:nvPr/>
        </p:nvSpPr>
        <p:spPr>
          <a:xfrm>
            <a:off x="457200" y="5760720"/>
            <a:ext cx="3654552" cy="182880"/>
          </a:xfrm>
          <a:prstGeom prst="rect">
            <a:avLst/>
          </a:prstGeom>
          <a:noFill/>
        </p:spPr>
        <p:txBody>
          <a:bodyPr wrap="square" lIns="0" rIns="0" tIns="0" bIns="0">
            <a:spAutoFit/>
          </a:bodyPr>
          <a:lstStyle/>
          <a:p>
            <a:pPr>
              <a:defRPr sz="819" b="0">
                <a:solidFill>
                  <a:srgbClr val="CCD1C2"/>
                </a:solidFill>
                <a:latin typeface="Arial"/>
              </a:defRPr>
            </a:pPr>
            <a:r>
              <a:t>P01 / Lageplan: Sichtachsen zur Elliott Bay, zum Mount Rainier und von I-5</a:t>
            </a:r>
          </a:p>
        </p:txBody>
      </p:sp>
      <p:sp>
        <p:nvSpPr>
          <p:cNvPr id="9" name="TextBox 8"/>
          <p:cNvSpPr txBox="1"/>
          <p:nvPr/>
        </p:nvSpPr>
        <p:spPr>
          <a:xfrm>
            <a:off x="45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3"/>
              </a:rPr>
              <a:t>OMA · © OMA / LMN · keine offene Lizenz angegeben</a:t>
            </a:r>
          </a:p>
        </p:txBody>
      </p:sp>
      <p:pic>
        <p:nvPicPr>
          <p:cNvPr id="10" name="Picture 9" descr="Gebäudeschnitt Ost–West; OMA + LMN; © OMA / LMN · keine offene Lizenz angegeben"/>
          <p:cNvPicPr>
            <a:picLocks noChangeAspect="1"/>
          </p:cNvPicPr>
          <p:nvPr/>
        </p:nvPicPr>
        <p:blipFill>
          <a:blip r:embed="rId4"/>
          <a:stretch>
            <a:fillRect/>
          </a:stretch>
        </p:blipFill>
        <p:spPr>
          <a:xfrm>
            <a:off x="4267200" y="2570645"/>
            <a:ext cx="3654552" cy="2832277"/>
          </a:xfrm>
          <a:prstGeom prst="rect">
            <a:avLst/>
          </a:prstGeom>
        </p:spPr>
      </p:pic>
      <p:sp>
        <p:nvSpPr>
          <p:cNvPr id="11" name="TextBox 10"/>
          <p:cNvSpPr txBox="1"/>
          <p:nvPr/>
        </p:nvSpPr>
        <p:spPr>
          <a:xfrm>
            <a:off x="4267200" y="5760720"/>
            <a:ext cx="3654552" cy="182880"/>
          </a:xfrm>
          <a:prstGeom prst="rect">
            <a:avLst/>
          </a:prstGeom>
          <a:noFill/>
        </p:spPr>
        <p:txBody>
          <a:bodyPr wrap="square" lIns="0" rIns="0" tIns="0" bIns="0">
            <a:spAutoFit/>
          </a:bodyPr>
          <a:lstStyle/>
          <a:p>
            <a:pPr>
              <a:defRPr sz="819" b="0">
                <a:solidFill>
                  <a:srgbClr val="CCD1C2"/>
                </a:solidFill>
                <a:latin typeface="Arial"/>
              </a:defRPr>
            </a:pPr>
            <a:r>
              <a:t>P06 / Gebäudeschnitt Ost–West</a:t>
            </a:r>
          </a:p>
        </p:txBody>
      </p:sp>
      <p:sp>
        <p:nvSpPr>
          <p:cNvPr id="12" name="TextBox 11"/>
          <p:cNvSpPr txBox="1"/>
          <p:nvPr/>
        </p:nvSpPr>
        <p:spPr>
          <a:xfrm>
            <a:off x="426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5"/>
              </a:rPr>
              <a:t>OMA + LMN · © OMA / LMN · keine offene Lizenz angegeben</a:t>
            </a:r>
          </a:p>
        </p:txBody>
      </p:sp>
      <p:pic>
        <p:nvPicPr>
          <p:cNvPr id="13" name="Picture 12" descr="Zwei Stadtniveaus · eine öffentliche Bibliothek; Johannes Fink · eigene Analyseskizze; CC BY 4.0"/>
          <p:cNvPicPr>
            <a:picLocks noChangeAspect="1"/>
          </p:cNvPicPr>
          <p:nvPr/>
        </p:nvPicPr>
        <p:blipFill>
          <a:blip r:embed="rId6"/>
          <a:stretch>
            <a:fillRect/>
          </a:stretch>
        </p:blipFill>
        <p:spPr>
          <a:xfrm>
            <a:off x="8077200" y="2667084"/>
            <a:ext cx="3654552" cy="2639398"/>
          </a:xfrm>
          <a:prstGeom prst="rect">
            <a:avLst/>
          </a:prstGeom>
        </p:spPr>
      </p:pic>
      <p:sp>
        <p:nvSpPr>
          <p:cNvPr id="14" name="TextBox 13"/>
          <p:cNvSpPr txBox="1"/>
          <p:nvPr/>
        </p:nvSpPr>
        <p:spPr>
          <a:xfrm>
            <a:off x="8077200" y="5760720"/>
            <a:ext cx="3654552" cy="182880"/>
          </a:xfrm>
          <a:prstGeom prst="rect">
            <a:avLst/>
          </a:prstGeom>
          <a:noFill/>
        </p:spPr>
        <p:txBody>
          <a:bodyPr wrap="square" lIns="0" rIns="0" tIns="0" bIns="0">
            <a:spAutoFit/>
          </a:bodyPr>
          <a:lstStyle/>
          <a:p>
            <a:pPr>
              <a:defRPr sz="819" b="0">
                <a:solidFill>
                  <a:srgbClr val="CCD1C2"/>
                </a:solidFill>
                <a:latin typeface="Arial"/>
              </a:defRPr>
            </a:pPr>
            <a:r>
              <a:t>A02 / Zwei Stadtniveaus · eine öffentliche Bibliothek</a:t>
            </a:r>
          </a:p>
        </p:txBody>
      </p:sp>
      <p:sp>
        <p:nvSpPr>
          <p:cNvPr id="15" name="TextBox 14"/>
          <p:cNvSpPr txBox="1"/>
          <p:nvPr/>
        </p:nvSpPr>
        <p:spPr>
          <a:xfrm>
            <a:off x="807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7"/>
              </a:rPr>
              <a:t>Johannes Fink · eigene Analyseskizze · CC BY 4.0</a:t>
            </a:r>
          </a:p>
        </p:txBody>
      </p:sp>
      <p:sp>
        <p:nvSpPr>
          <p:cNvPr id="16" name="TextBox 15"/>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[SPL 2–4; LMN 5; MKA 6]</a:t>
            </a:r>
          </a:p>
        </p:txBody>
      </p:sp>
      <p:sp>
        <p:nvSpPr>
          <p:cNvPr id="17" name="TextBox 16"/>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04 / RÄUMLICHE ORDNUNG</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Die Form folgt dem Programm</a:t>
            </a:r>
          </a:p>
        </p:txBody>
      </p:sp>
      <p:sp>
        <p:nvSpPr>
          <p:cNvPr id="4" name="TextBox 3"/>
          <p:cNvSpPr txBox="1"/>
          <p:nvPr/>
        </p:nvSpPr>
        <p:spPr>
          <a:xfrm>
            <a:off x="457200" y="1517904"/>
            <a:ext cx="3605784" cy="640080"/>
          </a:xfrm>
          <a:prstGeom prst="rect">
            <a:avLst/>
          </a:prstGeom>
          <a:noFill/>
        </p:spPr>
        <p:txBody>
          <a:bodyPr wrap="square" lIns="0" rIns="0" tIns="0" bIns="0">
            <a:spAutoFit/>
          </a:bodyPr>
          <a:lstStyle/>
          <a:p>
            <a:pPr>
              <a:defRPr sz="1200" b="0">
                <a:solidFill>
                  <a:srgbClr val="F4F6ED"/>
                </a:solidFill>
                <a:latin typeface="Arial"/>
              </a:defRPr>
            </a:pPr>
            <a:r>
              <a:t>5 feste Funktionscluster.</a:t>
            </a:r>
          </a:p>
        </p:txBody>
      </p:sp>
      <p:sp>
        <p:nvSpPr>
          <p:cNvPr id="5" name="TextBox 4"/>
          <p:cNvSpPr txBox="1"/>
          <p:nvPr/>
        </p:nvSpPr>
        <p:spPr>
          <a:xfrm>
            <a:off x="4291584" y="1517904"/>
            <a:ext cx="3605784" cy="640080"/>
          </a:xfrm>
          <a:prstGeom prst="rect">
            <a:avLst/>
          </a:prstGeom>
          <a:noFill/>
        </p:spPr>
        <p:txBody>
          <a:bodyPr wrap="square" lIns="0" rIns="0" tIns="0" bIns="0">
            <a:spAutoFit/>
          </a:bodyPr>
          <a:lstStyle/>
          <a:p>
            <a:pPr>
              <a:defRPr sz="1200" b="0">
                <a:solidFill>
                  <a:srgbClr val="F4F6ED"/>
                </a:solidFill>
                <a:latin typeface="Arial"/>
              </a:defRPr>
            </a:pPr>
            <a:r>
              <a:t>4 offene Zwischenzonen.</a:t>
            </a:r>
          </a:p>
        </p:txBody>
      </p:sp>
      <p:sp>
        <p:nvSpPr>
          <p:cNvPr id="6" name="TextBox 5"/>
          <p:cNvSpPr txBox="1"/>
          <p:nvPr/>
        </p:nvSpPr>
        <p:spPr>
          <a:xfrm>
            <a:off x="8125968" y="1517904"/>
            <a:ext cx="3605784" cy="640080"/>
          </a:xfrm>
          <a:prstGeom prst="rect">
            <a:avLst/>
          </a:prstGeom>
          <a:noFill/>
        </p:spPr>
        <p:txBody>
          <a:bodyPr wrap="square" lIns="0" rIns="0" tIns="0" bIns="0">
            <a:spAutoFit/>
          </a:bodyPr>
          <a:lstStyle/>
          <a:p>
            <a:pPr>
              <a:defRPr sz="1200" b="0">
                <a:solidFill>
                  <a:srgbClr val="F4F6ED"/>
                </a:solidFill>
                <a:latin typeface="Arial"/>
              </a:defRPr>
            </a:pPr>
            <a:r>
              <a:t>Die Hülle verbindet verschobene Plattformen.</a:t>
            </a:r>
          </a:p>
        </p:txBody>
      </p:sp>
      <p:pic>
        <p:nvPicPr>
          <p:cNvPr id="7" name="Picture 6" descr="Fünf feste Cluster · vier Zwischenzonen; Johannes Fink · eigene Analyseskizze; CC BY 4.0"/>
          <p:cNvPicPr>
            <a:picLocks noChangeAspect="1"/>
          </p:cNvPicPr>
          <p:nvPr/>
        </p:nvPicPr>
        <p:blipFill>
          <a:blip r:embed="rId2"/>
          <a:stretch>
            <a:fillRect/>
          </a:stretch>
        </p:blipFill>
        <p:spPr>
          <a:xfrm>
            <a:off x="457200" y="2667084"/>
            <a:ext cx="3654552" cy="2639398"/>
          </a:xfrm>
          <a:prstGeom prst="rect">
            <a:avLst/>
          </a:prstGeom>
        </p:spPr>
      </p:pic>
      <p:sp>
        <p:nvSpPr>
          <p:cNvPr id="8" name="TextBox 7"/>
          <p:cNvSpPr txBox="1"/>
          <p:nvPr/>
        </p:nvSpPr>
        <p:spPr>
          <a:xfrm>
            <a:off x="457200" y="5760720"/>
            <a:ext cx="3654552" cy="182880"/>
          </a:xfrm>
          <a:prstGeom prst="rect">
            <a:avLst/>
          </a:prstGeom>
          <a:noFill/>
        </p:spPr>
        <p:txBody>
          <a:bodyPr wrap="square" lIns="0" rIns="0" tIns="0" bIns="0">
            <a:spAutoFit/>
          </a:bodyPr>
          <a:lstStyle/>
          <a:p>
            <a:pPr>
              <a:defRPr sz="819" b="0">
                <a:solidFill>
                  <a:srgbClr val="CCD1C2"/>
                </a:solidFill>
                <a:latin typeface="Arial"/>
              </a:defRPr>
            </a:pPr>
            <a:r>
              <a:t>A01 / Fünf feste Cluster · vier Zwischenzonen</a:t>
            </a:r>
          </a:p>
        </p:txBody>
      </p:sp>
      <p:sp>
        <p:nvSpPr>
          <p:cNvPr id="9" name="TextBox 8"/>
          <p:cNvSpPr txBox="1"/>
          <p:nvPr/>
        </p:nvSpPr>
        <p:spPr>
          <a:xfrm>
            <a:off x="45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3"/>
              </a:rPr>
              <a:t>Johannes Fink · eigene Analyseskizze · CC BY 4.0</a:t>
            </a:r>
          </a:p>
        </p:txBody>
      </p:sp>
      <p:pic>
        <p:nvPicPr>
          <p:cNvPr id="10" name="Picture 9" descr="Programm-Schnitt: Plattformen und öffentliche Zwischenräume; OMA; © OMA / LMN · keine offene Lizenz angegeben"/>
          <p:cNvPicPr>
            <a:picLocks noChangeAspect="1"/>
          </p:cNvPicPr>
          <p:nvPr/>
        </p:nvPicPr>
        <p:blipFill>
          <a:blip r:embed="rId4"/>
          <a:stretch>
            <a:fillRect/>
          </a:stretch>
        </p:blipFill>
        <p:spPr>
          <a:xfrm>
            <a:off x="4355626" y="2286000"/>
            <a:ext cx="3477699" cy="3401568"/>
          </a:xfrm>
          <a:prstGeom prst="rect">
            <a:avLst/>
          </a:prstGeom>
        </p:spPr>
      </p:pic>
      <p:sp>
        <p:nvSpPr>
          <p:cNvPr id="11" name="TextBox 10"/>
          <p:cNvSpPr txBox="1"/>
          <p:nvPr/>
        </p:nvSpPr>
        <p:spPr>
          <a:xfrm>
            <a:off x="4267200" y="5760720"/>
            <a:ext cx="3654552" cy="182880"/>
          </a:xfrm>
          <a:prstGeom prst="rect">
            <a:avLst/>
          </a:prstGeom>
          <a:noFill/>
        </p:spPr>
        <p:txBody>
          <a:bodyPr wrap="square" lIns="0" rIns="0" tIns="0" bIns="0">
            <a:spAutoFit/>
          </a:bodyPr>
          <a:lstStyle/>
          <a:p>
            <a:pPr>
              <a:defRPr sz="819" b="0">
                <a:solidFill>
                  <a:srgbClr val="CCD1C2"/>
                </a:solidFill>
                <a:latin typeface="Arial"/>
              </a:defRPr>
            </a:pPr>
            <a:r>
              <a:t>P02 / Programm-Schnitt: Plattformen und öffentliche Zwischenräume</a:t>
            </a:r>
          </a:p>
        </p:txBody>
      </p:sp>
      <p:sp>
        <p:nvSpPr>
          <p:cNvPr id="12" name="TextBox 11"/>
          <p:cNvSpPr txBox="1"/>
          <p:nvPr/>
        </p:nvSpPr>
        <p:spPr>
          <a:xfrm>
            <a:off x="426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5"/>
              </a:rPr>
              <a:t>OMA · © OMA / LMN · keine offene Lizenz angegeben</a:t>
            </a:r>
          </a:p>
        </p:txBody>
      </p:sp>
      <p:pic>
        <p:nvPicPr>
          <p:cNvPr id="13" name="Picture 12" descr="Stadtbezug · erhöhte Perspektive; SounderBruce; CC BY-SA 4.0"/>
          <p:cNvPicPr>
            <a:picLocks noChangeAspect="1"/>
          </p:cNvPicPr>
          <p:nvPr/>
        </p:nvPicPr>
        <p:blipFill>
          <a:blip r:embed="rId6"/>
          <a:srcRect l="9543" r="9543"/>
          <a:stretch>
            <a:fillRect/>
          </a:stretch>
        </p:blipFill>
        <p:spPr>
          <a:xfrm>
            <a:off x="8077200" y="2286000"/>
            <a:ext cx="3654552" cy="3401568"/>
          </a:xfrm>
          <a:prstGeom prst="rect">
            <a:avLst/>
          </a:prstGeom>
        </p:spPr>
      </p:pic>
      <p:sp>
        <p:nvSpPr>
          <p:cNvPr id="14" name="TextBox 13"/>
          <p:cNvSpPr txBox="1"/>
          <p:nvPr/>
        </p:nvSpPr>
        <p:spPr>
          <a:xfrm>
            <a:off x="8077200" y="5760720"/>
            <a:ext cx="3654552" cy="182880"/>
          </a:xfrm>
          <a:prstGeom prst="rect">
            <a:avLst/>
          </a:prstGeom>
          <a:noFill/>
        </p:spPr>
        <p:txBody>
          <a:bodyPr wrap="square" lIns="0" rIns="0" tIns="0" bIns="0">
            <a:spAutoFit/>
          </a:bodyPr>
          <a:lstStyle/>
          <a:p>
            <a:pPr>
              <a:defRPr sz="819" b="0">
                <a:solidFill>
                  <a:srgbClr val="CCD1C2"/>
                </a:solidFill>
                <a:latin typeface="Arial"/>
              </a:defRPr>
            </a:pPr>
            <a:r>
              <a:t>F18 / Stadtbezug · erhöhte Perspektive</a:t>
            </a:r>
          </a:p>
        </p:txBody>
      </p:sp>
      <p:sp>
        <p:nvSpPr>
          <p:cNvPr id="15" name="TextBox 14"/>
          <p:cNvSpPr txBox="1"/>
          <p:nvPr/>
        </p:nvSpPr>
        <p:spPr>
          <a:xfrm>
            <a:off x="807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7"/>
              </a:rPr>
              <a:t>SounderBruce · CC BY-SA 4.0</a:t>
            </a:r>
          </a:p>
        </p:txBody>
      </p:sp>
      <p:sp>
        <p:nvSpPr>
          <p:cNvPr id="16" name="TextBox 15"/>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[OMA 1; SPL 2; LMN 5]</a:t>
            </a:r>
          </a:p>
        </p:txBody>
      </p:sp>
      <p:sp>
        <p:nvSpPr>
          <p:cNvPr id="17" name="TextBox 16"/>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05 / GRUNDRISS &amp; TYPOLOGIE</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Drei Grundrisse, drei Aufgaben</a:t>
            </a:r>
          </a:p>
        </p:txBody>
      </p:sp>
      <p:sp>
        <p:nvSpPr>
          <p:cNvPr id="4" name="TextBox 3"/>
          <p:cNvSpPr txBox="1"/>
          <p:nvPr/>
        </p:nvSpPr>
        <p:spPr>
          <a:xfrm>
            <a:off x="457200" y="1517904"/>
            <a:ext cx="11274552" cy="640080"/>
          </a:xfrm>
          <a:prstGeom prst="rect">
            <a:avLst/>
          </a:prstGeom>
          <a:noFill/>
        </p:spPr>
        <p:txBody>
          <a:bodyPr wrap="square" lIns="0" rIns="0" tIns="0" bIns="0">
            <a:spAutoFit/>
          </a:bodyPr>
          <a:lstStyle/>
          <a:p>
            <a:pPr>
              <a:defRPr sz="1200" b="0">
                <a:solidFill>
                  <a:srgbClr val="F4F6ED"/>
                </a:solidFill>
                <a:latin typeface="Arial"/>
              </a:defRPr>
            </a:pPr>
            <a:r>
              <a:t>Level 3: Aufenthalt · Level 5: Beratung · Level 8: Sammlung.</a:t>
            </a:r>
          </a:p>
        </p:txBody>
      </p:sp>
      <p:pic>
        <p:nvPicPr>
          <p:cNvPr id="5" name="Picture 4" descr="Grundriss Level 3 / Living Room; OMA + LMN; © OMA / LMN · keine offene Lizenz angegeben"/>
          <p:cNvPicPr>
            <a:picLocks noChangeAspect="1"/>
          </p:cNvPicPr>
          <p:nvPr/>
        </p:nvPicPr>
        <p:blipFill>
          <a:blip r:embed="rId2"/>
          <a:stretch>
            <a:fillRect/>
          </a:stretch>
        </p:blipFill>
        <p:spPr>
          <a:xfrm>
            <a:off x="697430" y="2286000"/>
            <a:ext cx="3174091" cy="3401568"/>
          </a:xfrm>
          <a:prstGeom prst="rect">
            <a:avLst/>
          </a:prstGeom>
        </p:spPr>
      </p:pic>
      <p:sp>
        <p:nvSpPr>
          <p:cNvPr id="6" name="TextBox 5"/>
          <p:cNvSpPr txBox="1"/>
          <p:nvPr/>
        </p:nvSpPr>
        <p:spPr>
          <a:xfrm>
            <a:off x="457200" y="5760720"/>
            <a:ext cx="3654552" cy="182880"/>
          </a:xfrm>
          <a:prstGeom prst="rect">
            <a:avLst/>
          </a:prstGeom>
          <a:noFill/>
        </p:spPr>
        <p:txBody>
          <a:bodyPr wrap="square" lIns="0" rIns="0" tIns="0" bIns="0">
            <a:spAutoFit/>
          </a:bodyPr>
          <a:lstStyle/>
          <a:p>
            <a:pPr>
              <a:defRPr sz="819" b="0">
                <a:solidFill>
                  <a:srgbClr val="CCD1C2"/>
                </a:solidFill>
                <a:latin typeface="Arial"/>
              </a:defRPr>
            </a:pPr>
            <a:r>
              <a:t>P03 / Grundriss Level 3 / Living Room</a:t>
            </a:r>
          </a:p>
        </p:txBody>
      </p:sp>
      <p:sp>
        <p:nvSpPr>
          <p:cNvPr id="7" name="TextBox 6"/>
          <p:cNvSpPr txBox="1"/>
          <p:nvPr/>
        </p:nvSpPr>
        <p:spPr>
          <a:xfrm>
            <a:off x="45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3"/>
              </a:rPr>
              <a:t>OMA + LMN · © OMA / LMN · keine offene Lizenz angegeben</a:t>
            </a:r>
          </a:p>
        </p:txBody>
      </p:sp>
      <p:pic>
        <p:nvPicPr>
          <p:cNvPr id="8" name="Picture 7" descr="Grundriss Level 5 / Mixing Chamber; OMA; © OMA / LMN · keine offene Lizenz angegeben"/>
          <p:cNvPicPr>
            <a:picLocks noChangeAspect="1"/>
          </p:cNvPicPr>
          <p:nvPr/>
        </p:nvPicPr>
        <p:blipFill>
          <a:blip r:embed="rId4"/>
          <a:stretch>
            <a:fillRect/>
          </a:stretch>
        </p:blipFill>
        <p:spPr>
          <a:xfrm>
            <a:off x="4452792" y="2286000"/>
            <a:ext cx="3283366" cy="3401568"/>
          </a:xfrm>
          <a:prstGeom prst="rect">
            <a:avLst/>
          </a:prstGeom>
        </p:spPr>
      </p:pic>
      <p:sp>
        <p:nvSpPr>
          <p:cNvPr id="9" name="TextBox 8"/>
          <p:cNvSpPr txBox="1"/>
          <p:nvPr/>
        </p:nvSpPr>
        <p:spPr>
          <a:xfrm>
            <a:off x="4267200" y="5760720"/>
            <a:ext cx="3654552" cy="182880"/>
          </a:xfrm>
          <a:prstGeom prst="rect">
            <a:avLst/>
          </a:prstGeom>
          <a:noFill/>
        </p:spPr>
        <p:txBody>
          <a:bodyPr wrap="square" lIns="0" rIns="0" tIns="0" bIns="0">
            <a:spAutoFit/>
          </a:bodyPr>
          <a:lstStyle/>
          <a:p>
            <a:pPr>
              <a:defRPr sz="819" b="0">
                <a:solidFill>
                  <a:srgbClr val="CCD1C2"/>
                </a:solidFill>
                <a:latin typeface="Arial"/>
              </a:defRPr>
            </a:pPr>
            <a:r>
              <a:t>P04 / Grundriss Level 5 / Mixing Chamber</a:t>
            </a:r>
          </a:p>
        </p:txBody>
      </p:sp>
      <p:sp>
        <p:nvSpPr>
          <p:cNvPr id="10" name="TextBox 9"/>
          <p:cNvSpPr txBox="1"/>
          <p:nvPr/>
        </p:nvSpPr>
        <p:spPr>
          <a:xfrm>
            <a:off x="426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5"/>
              </a:rPr>
              <a:t>OMA · © OMA / LMN · keine offene Lizenz angegeben</a:t>
            </a:r>
          </a:p>
        </p:txBody>
      </p:sp>
      <p:pic>
        <p:nvPicPr>
          <p:cNvPr id="11" name="Picture 10" descr="Grundriss Level 8 / Books Spiral; OMA; © OMA / LMN · keine offene Lizenz angegeben"/>
          <p:cNvPicPr>
            <a:picLocks noChangeAspect="1"/>
          </p:cNvPicPr>
          <p:nvPr/>
        </p:nvPicPr>
        <p:blipFill>
          <a:blip r:embed="rId6"/>
          <a:stretch>
            <a:fillRect/>
          </a:stretch>
        </p:blipFill>
        <p:spPr>
          <a:xfrm>
            <a:off x="8255630" y="2286000"/>
            <a:ext cx="3297690" cy="3401568"/>
          </a:xfrm>
          <a:prstGeom prst="rect">
            <a:avLst/>
          </a:prstGeom>
        </p:spPr>
      </p:pic>
      <p:sp>
        <p:nvSpPr>
          <p:cNvPr id="12" name="TextBox 11"/>
          <p:cNvSpPr txBox="1"/>
          <p:nvPr/>
        </p:nvSpPr>
        <p:spPr>
          <a:xfrm>
            <a:off x="8077200" y="5760720"/>
            <a:ext cx="3654552" cy="182880"/>
          </a:xfrm>
          <a:prstGeom prst="rect">
            <a:avLst/>
          </a:prstGeom>
          <a:noFill/>
        </p:spPr>
        <p:txBody>
          <a:bodyPr wrap="square" lIns="0" rIns="0" tIns="0" bIns="0">
            <a:spAutoFit/>
          </a:bodyPr>
          <a:lstStyle/>
          <a:p>
            <a:pPr>
              <a:defRPr sz="819" b="0">
                <a:solidFill>
                  <a:srgbClr val="CCD1C2"/>
                </a:solidFill>
                <a:latin typeface="Arial"/>
              </a:defRPr>
            </a:pPr>
            <a:r>
              <a:t>P05 / Grundriss Level 8 / Books Spiral</a:t>
            </a:r>
          </a:p>
        </p:txBody>
      </p:sp>
      <p:sp>
        <p:nvSpPr>
          <p:cNvPr id="13" name="TextBox 12"/>
          <p:cNvSpPr txBox="1"/>
          <p:nvPr/>
        </p:nvSpPr>
        <p:spPr>
          <a:xfrm>
            <a:off x="807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7"/>
              </a:rPr>
              <a:t>OMA · © OMA / LMN · keine offene Lizenz angegeben</a:t>
            </a:r>
          </a:p>
        </p:txBody>
      </p:sp>
      <p:sp>
        <p:nvSpPr>
          <p:cNvPr id="14" name="TextBox 13"/>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[OMA 1; LMN 5; SPL 16]</a:t>
            </a:r>
          </a:p>
        </p:txBody>
      </p:sp>
      <p:sp>
        <p:nvSpPr>
          <p:cNvPr id="15" name="TextBox 14"/>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06 / BOOK SPIRAL</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Vier Ebenen, ein Bestand</a:t>
            </a:r>
          </a:p>
        </p:txBody>
      </p:sp>
      <p:sp>
        <p:nvSpPr>
          <p:cNvPr id="4" name="TextBox 3"/>
          <p:cNvSpPr txBox="1"/>
          <p:nvPr/>
        </p:nvSpPr>
        <p:spPr>
          <a:xfrm>
            <a:off x="457200" y="1517904"/>
            <a:ext cx="3605784" cy="640080"/>
          </a:xfrm>
          <a:prstGeom prst="rect">
            <a:avLst/>
          </a:prstGeom>
          <a:noFill/>
        </p:spPr>
        <p:txBody>
          <a:bodyPr wrap="square" lIns="0" rIns="0" tIns="0" bIns="0">
            <a:spAutoFit/>
          </a:bodyPr>
          <a:lstStyle/>
          <a:p>
            <a:pPr>
              <a:defRPr sz="1200" b="0">
                <a:solidFill>
                  <a:srgbClr val="F4F6ED"/>
                </a:solidFill>
                <a:latin typeface="Arial"/>
              </a:defRPr>
            </a:pPr>
            <a:r>
              <a:t>Level 6–9: kontinuierlich und rollstuhlgängig.</a:t>
            </a:r>
          </a:p>
        </p:txBody>
      </p:sp>
      <p:sp>
        <p:nvSpPr>
          <p:cNvPr id="5" name="TextBox 4"/>
          <p:cNvSpPr txBox="1"/>
          <p:nvPr/>
        </p:nvSpPr>
        <p:spPr>
          <a:xfrm>
            <a:off x="4291584" y="1517904"/>
            <a:ext cx="3605784" cy="640080"/>
          </a:xfrm>
          <a:prstGeom prst="rect">
            <a:avLst/>
          </a:prstGeom>
          <a:noFill/>
        </p:spPr>
        <p:txBody>
          <a:bodyPr wrap="square" lIns="0" rIns="0" tIns="0" bIns="0">
            <a:spAutoFit/>
          </a:bodyPr>
          <a:lstStyle/>
          <a:p>
            <a:pPr>
              <a:defRPr sz="1200" b="0">
                <a:solidFill>
                  <a:srgbClr val="F4F6ED"/>
                </a:solidFill>
                <a:latin typeface="Arial"/>
              </a:defRPr>
            </a:pPr>
            <a:r>
              <a:t>Dewey-Systematik: 000 → 999.</a:t>
            </a:r>
          </a:p>
        </p:txBody>
      </p:sp>
      <p:sp>
        <p:nvSpPr>
          <p:cNvPr id="6" name="TextBox 5"/>
          <p:cNvSpPr txBox="1"/>
          <p:nvPr/>
        </p:nvSpPr>
        <p:spPr>
          <a:xfrm>
            <a:off x="8125968" y="1517904"/>
            <a:ext cx="3605784" cy="640080"/>
          </a:xfrm>
          <a:prstGeom prst="rect">
            <a:avLst/>
          </a:prstGeom>
          <a:noFill/>
        </p:spPr>
        <p:txBody>
          <a:bodyPr wrap="square" lIns="0" rIns="0" tIns="0" bIns="0">
            <a:spAutoFit/>
          </a:bodyPr>
          <a:lstStyle/>
          <a:p>
            <a:pPr>
              <a:defRPr sz="1200" b="0">
                <a:solidFill>
                  <a:srgbClr val="F4F6ED"/>
                </a:solidFill>
                <a:latin typeface="Arial"/>
              </a:defRPr>
            </a:pPr>
            <a:r>
              <a:t>Wachstum ohne Bruch an jeder Geschossgrenze.</a:t>
            </a:r>
          </a:p>
        </p:txBody>
      </p:sp>
      <p:pic>
        <p:nvPicPr>
          <p:cNvPr id="7" name="Picture 6" descr="Book Spiral · die Ordnung überwindet die Etage; Johannes Fink · eigene Analyseskizze; CC BY 4.0"/>
          <p:cNvPicPr>
            <a:picLocks noChangeAspect="1"/>
          </p:cNvPicPr>
          <p:nvPr/>
        </p:nvPicPr>
        <p:blipFill>
          <a:blip r:embed="rId2"/>
          <a:stretch>
            <a:fillRect/>
          </a:stretch>
        </p:blipFill>
        <p:spPr>
          <a:xfrm>
            <a:off x="457200" y="2667084"/>
            <a:ext cx="3654552" cy="2639398"/>
          </a:xfrm>
          <a:prstGeom prst="rect">
            <a:avLst/>
          </a:prstGeom>
        </p:spPr>
      </p:pic>
      <p:sp>
        <p:nvSpPr>
          <p:cNvPr id="8" name="TextBox 7"/>
          <p:cNvSpPr txBox="1"/>
          <p:nvPr/>
        </p:nvSpPr>
        <p:spPr>
          <a:xfrm>
            <a:off x="457200" y="5760720"/>
            <a:ext cx="3654552" cy="182880"/>
          </a:xfrm>
          <a:prstGeom prst="rect">
            <a:avLst/>
          </a:prstGeom>
          <a:noFill/>
        </p:spPr>
        <p:txBody>
          <a:bodyPr wrap="square" lIns="0" rIns="0" tIns="0" bIns="0">
            <a:spAutoFit/>
          </a:bodyPr>
          <a:lstStyle/>
          <a:p>
            <a:pPr>
              <a:defRPr sz="819" b="0">
                <a:solidFill>
                  <a:srgbClr val="CCD1C2"/>
                </a:solidFill>
                <a:latin typeface="Arial"/>
              </a:defRPr>
            </a:pPr>
            <a:r>
              <a:t>A03 / Book Spiral · die Ordnung überwindet die Etage</a:t>
            </a:r>
          </a:p>
        </p:txBody>
      </p:sp>
      <p:sp>
        <p:nvSpPr>
          <p:cNvPr id="9" name="TextBox 8"/>
          <p:cNvSpPr txBox="1"/>
          <p:nvPr/>
        </p:nvSpPr>
        <p:spPr>
          <a:xfrm>
            <a:off x="45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3"/>
              </a:rPr>
              <a:t>Johannes Fink · eigene Analyseskizze · CC BY 4.0</a:t>
            </a:r>
          </a:p>
        </p:txBody>
      </p:sp>
      <p:pic>
        <p:nvPicPr>
          <p:cNvPr id="10" name="Picture 9" descr="Book Spiral · Dewey-Markierungen; brewbooks from near Seattle, USA; CC BY-SA 2.0"/>
          <p:cNvPicPr>
            <a:picLocks noChangeAspect="1"/>
          </p:cNvPicPr>
          <p:nvPr/>
        </p:nvPicPr>
        <p:blipFill>
          <a:blip r:embed="rId4"/>
          <a:srcRect t="18974" b="18974"/>
          <a:stretch>
            <a:fillRect/>
          </a:stretch>
        </p:blipFill>
        <p:spPr>
          <a:xfrm>
            <a:off x="4267200" y="2286000"/>
            <a:ext cx="3654552" cy="3401568"/>
          </a:xfrm>
          <a:prstGeom prst="rect">
            <a:avLst/>
          </a:prstGeom>
        </p:spPr>
      </p:pic>
      <p:sp>
        <p:nvSpPr>
          <p:cNvPr id="11" name="TextBox 10"/>
          <p:cNvSpPr txBox="1"/>
          <p:nvPr/>
        </p:nvSpPr>
        <p:spPr>
          <a:xfrm>
            <a:off x="4267200" y="5760720"/>
            <a:ext cx="3654552" cy="182880"/>
          </a:xfrm>
          <a:prstGeom prst="rect">
            <a:avLst/>
          </a:prstGeom>
          <a:noFill/>
        </p:spPr>
        <p:txBody>
          <a:bodyPr wrap="square" lIns="0" rIns="0" tIns="0" bIns="0">
            <a:spAutoFit/>
          </a:bodyPr>
          <a:lstStyle/>
          <a:p>
            <a:pPr>
              <a:defRPr sz="819" b="0">
                <a:solidFill>
                  <a:srgbClr val="CCD1C2"/>
                </a:solidFill>
                <a:latin typeface="Arial"/>
              </a:defRPr>
            </a:pPr>
            <a:r>
              <a:t>F11 / Book Spiral · Dewey-Markierungen</a:t>
            </a:r>
          </a:p>
        </p:txBody>
      </p:sp>
      <p:sp>
        <p:nvSpPr>
          <p:cNvPr id="12" name="TextBox 11"/>
          <p:cNvSpPr txBox="1"/>
          <p:nvPr/>
        </p:nvSpPr>
        <p:spPr>
          <a:xfrm>
            <a:off x="426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5"/>
              </a:rPr>
              <a:t>brewbooks from near Seattle, USA · CC BY-SA 2.0</a:t>
            </a:r>
          </a:p>
        </p:txBody>
      </p:sp>
      <p:pic>
        <p:nvPicPr>
          <p:cNvPr id="13" name="Picture 12" descr="Book Spiral · obere Bereiche; brewbooks from near Seattle, USA; CC BY-SA 2.0"/>
          <p:cNvPicPr>
            <a:picLocks noChangeAspect="1"/>
          </p:cNvPicPr>
          <p:nvPr/>
        </p:nvPicPr>
        <p:blipFill>
          <a:blip r:embed="rId6"/>
          <a:srcRect l="14188" r="14188"/>
          <a:stretch>
            <a:fillRect/>
          </a:stretch>
        </p:blipFill>
        <p:spPr>
          <a:xfrm>
            <a:off x="8077200" y="2286000"/>
            <a:ext cx="3654552" cy="3401568"/>
          </a:xfrm>
          <a:prstGeom prst="rect">
            <a:avLst/>
          </a:prstGeom>
        </p:spPr>
      </p:pic>
      <p:sp>
        <p:nvSpPr>
          <p:cNvPr id="14" name="TextBox 13"/>
          <p:cNvSpPr txBox="1"/>
          <p:nvPr/>
        </p:nvSpPr>
        <p:spPr>
          <a:xfrm>
            <a:off x="8077200" y="5760720"/>
            <a:ext cx="3654552" cy="182880"/>
          </a:xfrm>
          <a:prstGeom prst="rect">
            <a:avLst/>
          </a:prstGeom>
          <a:noFill/>
        </p:spPr>
        <p:txBody>
          <a:bodyPr wrap="square" lIns="0" rIns="0" tIns="0" bIns="0">
            <a:spAutoFit/>
          </a:bodyPr>
          <a:lstStyle/>
          <a:p>
            <a:pPr>
              <a:defRPr sz="819" b="0">
                <a:solidFill>
                  <a:srgbClr val="CCD1C2"/>
                </a:solidFill>
                <a:latin typeface="Arial"/>
              </a:defRPr>
            </a:pPr>
            <a:r>
              <a:t>F12 / Book Spiral · obere Bereiche</a:t>
            </a:r>
          </a:p>
        </p:txBody>
      </p:sp>
      <p:sp>
        <p:nvSpPr>
          <p:cNvPr id="15" name="TextBox 14"/>
          <p:cNvSpPr txBox="1"/>
          <p:nvPr/>
        </p:nvSpPr>
        <p:spPr>
          <a:xfrm>
            <a:off x="807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7"/>
              </a:rPr>
              <a:t>brewbooks from near Seattle, USA · CC BY-SA 2.0</a:t>
            </a:r>
          </a:p>
        </p:txBody>
      </p:sp>
      <p:sp>
        <p:nvSpPr>
          <p:cNvPr id="16" name="TextBox 15"/>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[OMA 1; SPL 2; REX 15]</a:t>
            </a:r>
          </a:p>
        </p:txBody>
      </p:sp>
      <p:sp>
        <p:nvSpPr>
          <p:cNvPr id="17" name="TextBox 16"/>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07 / ÖFFENTLICHER INNENRAUM</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Aufenthalt ist Teil des Programms</a:t>
            </a:r>
          </a:p>
        </p:txBody>
      </p:sp>
      <p:sp>
        <p:nvSpPr>
          <p:cNvPr id="4" name="TextBox 3"/>
          <p:cNvSpPr txBox="1"/>
          <p:nvPr/>
        </p:nvSpPr>
        <p:spPr>
          <a:xfrm>
            <a:off x="457200" y="1517904"/>
            <a:ext cx="3605784" cy="640080"/>
          </a:xfrm>
          <a:prstGeom prst="rect">
            <a:avLst/>
          </a:prstGeom>
          <a:noFill/>
        </p:spPr>
        <p:txBody>
          <a:bodyPr wrap="square" lIns="0" rIns="0" tIns="0" bIns="0">
            <a:spAutoFit/>
          </a:bodyPr>
          <a:lstStyle/>
          <a:p>
            <a:pPr>
              <a:defRPr sz="1200" b="0">
                <a:solidFill>
                  <a:srgbClr val="F4F6ED"/>
                </a:solidFill>
                <a:latin typeface="Arial"/>
              </a:defRPr>
            </a:pPr>
            <a:r>
              <a:t>Living Room: bis 50 ft ≈ 15,24 m Raumhöhe.</a:t>
            </a:r>
          </a:p>
        </p:txBody>
      </p:sp>
      <p:sp>
        <p:nvSpPr>
          <p:cNvPr id="5" name="TextBox 4"/>
          <p:cNvSpPr txBox="1"/>
          <p:nvPr/>
        </p:nvSpPr>
        <p:spPr>
          <a:xfrm>
            <a:off x="4291584" y="1517904"/>
            <a:ext cx="3605784" cy="640080"/>
          </a:xfrm>
          <a:prstGeom prst="rect">
            <a:avLst/>
          </a:prstGeom>
          <a:noFill/>
        </p:spPr>
        <p:txBody>
          <a:bodyPr wrap="square" lIns="0" rIns="0" tIns="0" bIns="0">
            <a:spAutoFit/>
          </a:bodyPr>
          <a:lstStyle/>
          <a:p>
            <a:pPr>
              <a:defRPr sz="1200" b="0">
                <a:solidFill>
                  <a:srgbClr val="F4F6ED"/>
                </a:solidFill>
                <a:latin typeface="Arial"/>
              </a:defRPr>
            </a:pPr>
            <a:r>
              <a:t>Kinderbereich, Lernplätze, Beratung und Veranstaltungen.</a:t>
            </a:r>
          </a:p>
        </p:txBody>
      </p:sp>
      <p:sp>
        <p:nvSpPr>
          <p:cNvPr id="6" name="TextBox 5"/>
          <p:cNvSpPr txBox="1"/>
          <p:nvPr/>
        </p:nvSpPr>
        <p:spPr>
          <a:xfrm>
            <a:off x="8125968" y="1517904"/>
            <a:ext cx="3605784" cy="640080"/>
          </a:xfrm>
          <a:prstGeom prst="rect">
            <a:avLst/>
          </a:prstGeom>
          <a:noFill/>
        </p:spPr>
        <p:txBody>
          <a:bodyPr wrap="square" lIns="0" rIns="0" tIns="0" bIns="0">
            <a:spAutoFit/>
          </a:bodyPr>
          <a:lstStyle/>
          <a:p>
            <a:pPr>
              <a:defRPr sz="1200" b="0">
                <a:solidFill>
                  <a:srgbClr val="F4F6ED"/>
                </a:solidFill>
                <a:latin typeface="Arial"/>
              </a:defRPr>
            </a:pPr>
            <a:r>
              <a:t>Offenheit muss sich im Gebrauch zeigen.</a:t>
            </a:r>
          </a:p>
        </p:txBody>
      </p:sp>
      <p:pic>
        <p:nvPicPr>
          <p:cNvPr id="7" name="Picture 6" descr="Living Room · Blick auf Level 3; Vladimir Menkov; CC BY-SA 3.0"/>
          <p:cNvPicPr>
            <a:picLocks noChangeAspect="1"/>
          </p:cNvPicPr>
          <p:nvPr/>
        </p:nvPicPr>
        <p:blipFill>
          <a:blip r:embed="rId2"/>
          <a:srcRect l="9711" r="9711"/>
          <a:stretch>
            <a:fillRect/>
          </a:stretch>
        </p:blipFill>
        <p:spPr>
          <a:xfrm>
            <a:off x="457200" y="2286000"/>
            <a:ext cx="3654552" cy="3401568"/>
          </a:xfrm>
          <a:prstGeom prst="rect">
            <a:avLst/>
          </a:prstGeom>
        </p:spPr>
      </p:pic>
      <p:sp>
        <p:nvSpPr>
          <p:cNvPr id="8" name="TextBox 7"/>
          <p:cNvSpPr txBox="1"/>
          <p:nvPr/>
        </p:nvSpPr>
        <p:spPr>
          <a:xfrm>
            <a:off x="457200" y="5760720"/>
            <a:ext cx="3654552" cy="182880"/>
          </a:xfrm>
          <a:prstGeom prst="rect">
            <a:avLst/>
          </a:prstGeom>
          <a:noFill/>
        </p:spPr>
        <p:txBody>
          <a:bodyPr wrap="square" lIns="0" rIns="0" tIns="0" bIns="0">
            <a:spAutoFit/>
          </a:bodyPr>
          <a:lstStyle/>
          <a:p>
            <a:pPr>
              <a:defRPr sz="819" b="0">
                <a:solidFill>
                  <a:srgbClr val="CCD1C2"/>
                </a:solidFill>
                <a:latin typeface="Arial"/>
              </a:defRPr>
            </a:pPr>
            <a:r>
              <a:t>F06 / Living Room · Blick auf Level 3</a:t>
            </a:r>
          </a:p>
        </p:txBody>
      </p:sp>
      <p:sp>
        <p:nvSpPr>
          <p:cNvPr id="9" name="TextBox 8"/>
          <p:cNvSpPr txBox="1"/>
          <p:nvPr/>
        </p:nvSpPr>
        <p:spPr>
          <a:xfrm>
            <a:off x="45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3"/>
              </a:rPr>
              <a:t>Vladimir Menkov · CC BY-SA 3.0</a:t>
            </a:r>
          </a:p>
        </p:txBody>
      </p:sp>
      <p:pic>
        <p:nvPicPr>
          <p:cNvPr id="10" name="Picture 9" descr="Mixing Chamber · Blick von oben; brewbooks from near Seattle, USA; CC BY-SA 2.0"/>
          <p:cNvPicPr>
            <a:picLocks noChangeAspect="1"/>
          </p:cNvPicPr>
          <p:nvPr/>
        </p:nvPicPr>
        <p:blipFill>
          <a:blip r:embed="rId4"/>
          <a:srcRect l="9711" r="9711"/>
          <a:stretch>
            <a:fillRect/>
          </a:stretch>
        </p:blipFill>
        <p:spPr>
          <a:xfrm>
            <a:off x="4267200" y="2286000"/>
            <a:ext cx="3654552" cy="3401568"/>
          </a:xfrm>
          <a:prstGeom prst="rect">
            <a:avLst/>
          </a:prstGeom>
        </p:spPr>
      </p:pic>
      <p:sp>
        <p:nvSpPr>
          <p:cNvPr id="11" name="TextBox 10"/>
          <p:cNvSpPr txBox="1"/>
          <p:nvPr/>
        </p:nvSpPr>
        <p:spPr>
          <a:xfrm>
            <a:off x="4267200" y="5760720"/>
            <a:ext cx="3654552" cy="182880"/>
          </a:xfrm>
          <a:prstGeom prst="rect">
            <a:avLst/>
          </a:prstGeom>
          <a:noFill/>
        </p:spPr>
        <p:txBody>
          <a:bodyPr wrap="square" lIns="0" rIns="0" tIns="0" bIns="0">
            <a:spAutoFit/>
          </a:bodyPr>
          <a:lstStyle/>
          <a:p>
            <a:pPr>
              <a:defRPr sz="819" b="0">
                <a:solidFill>
                  <a:srgbClr val="CCD1C2"/>
                </a:solidFill>
                <a:latin typeface="Arial"/>
              </a:defRPr>
            </a:pPr>
            <a:r>
              <a:t>F10 / Mixing Chamber · Blick von oben</a:t>
            </a:r>
          </a:p>
        </p:txBody>
      </p:sp>
      <p:sp>
        <p:nvSpPr>
          <p:cNvPr id="12" name="TextBox 11"/>
          <p:cNvSpPr txBox="1"/>
          <p:nvPr/>
        </p:nvSpPr>
        <p:spPr>
          <a:xfrm>
            <a:off x="426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5"/>
              </a:rPr>
              <a:t>brewbooks from near Seattle, USA · CC BY-SA 2.0</a:t>
            </a:r>
          </a:p>
        </p:txBody>
      </p:sp>
      <p:pic>
        <p:nvPicPr>
          <p:cNvPr id="13" name="Picture 12" descr="Children’s Library; brewbooks from near Seattle, USA; CC BY-SA 2.0"/>
          <p:cNvPicPr>
            <a:picLocks noChangeAspect="1"/>
          </p:cNvPicPr>
          <p:nvPr/>
        </p:nvPicPr>
        <p:blipFill>
          <a:blip r:embed="rId6"/>
          <a:srcRect l="14188" r="14188"/>
          <a:stretch>
            <a:fillRect/>
          </a:stretch>
        </p:blipFill>
        <p:spPr>
          <a:xfrm>
            <a:off x="8077200" y="2286000"/>
            <a:ext cx="3654552" cy="3401568"/>
          </a:xfrm>
          <a:prstGeom prst="rect">
            <a:avLst/>
          </a:prstGeom>
        </p:spPr>
      </p:pic>
      <p:sp>
        <p:nvSpPr>
          <p:cNvPr id="14" name="TextBox 13"/>
          <p:cNvSpPr txBox="1"/>
          <p:nvPr/>
        </p:nvSpPr>
        <p:spPr>
          <a:xfrm>
            <a:off x="8077200" y="5760720"/>
            <a:ext cx="3654552" cy="182880"/>
          </a:xfrm>
          <a:prstGeom prst="rect">
            <a:avLst/>
          </a:prstGeom>
          <a:noFill/>
        </p:spPr>
        <p:txBody>
          <a:bodyPr wrap="square" lIns="0" rIns="0" tIns="0" bIns="0">
            <a:spAutoFit/>
          </a:bodyPr>
          <a:lstStyle/>
          <a:p>
            <a:pPr>
              <a:defRPr sz="819" b="0">
                <a:solidFill>
                  <a:srgbClr val="CCD1C2"/>
                </a:solidFill>
                <a:latin typeface="Arial"/>
              </a:defRPr>
            </a:pPr>
            <a:r>
              <a:t>F15 / Children’s Library</a:t>
            </a:r>
          </a:p>
        </p:txBody>
      </p:sp>
      <p:sp>
        <p:nvSpPr>
          <p:cNvPr id="15" name="TextBox 14"/>
          <p:cNvSpPr txBox="1"/>
          <p:nvPr/>
        </p:nvSpPr>
        <p:spPr>
          <a:xfrm>
            <a:off x="807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7"/>
              </a:rPr>
              <a:t>brewbooks from near Seattle, USA · CC BY-SA 2.0</a:t>
            </a:r>
          </a:p>
        </p:txBody>
      </p:sp>
      <p:sp>
        <p:nvSpPr>
          <p:cNvPr id="16" name="TextBox 15"/>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[SPL 2–4; SPL 16]</a:t>
            </a:r>
          </a:p>
        </p:txBody>
      </p:sp>
      <p:sp>
        <p:nvSpPr>
          <p:cNvPr id="17" name="TextBox 16"/>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08 / KONSTRUKTION</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Das Tragwerk prägt den Raum</a:t>
            </a:r>
          </a:p>
        </p:txBody>
      </p:sp>
      <p:sp>
        <p:nvSpPr>
          <p:cNvPr id="4" name="TextBox 3"/>
          <p:cNvSpPr txBox="1"/>
          <p:nvPr/>
        </p:nvSpPr>
        <p:spPr>
          <a:xfrm>
            <a:off x="457200" y="1517904"/>
            <a:ext cx="3605784" cy="640080"/>
          </a:xfrm>
          <a:prstGeom prst="rect">
            <a:avLst/>
          </a:prstGeom>
          <a:noFill/>
        </p:spPr>
        <p:txBody>
          <a:bodyPr wrap="square" lIns="0" rIns="0" tIns="0" bIns="0">
            <a:spAutoFit/>
          </a:bodyPr>
          <a:lstStyle/>
          <a:p>
            <a:pPr>
              <a:defRPr sz="1200" b="0">
                <a:solidFill>
                  <a:srgbClr val="F4F6ED"/>
                </a:solidFill>
                <a:latin typeface="Arial"/>
              </a:defRPr>
            </a:pPr>
            <a:r>
              <a:t>Fachwerke + geneigte Stützen: vertikale Lasten.</a:t>
            </a:r>
          </a:p>
        </p:txBody>
      </p:sp>
      <p:sp>
        <p:nvSpPr>
          <p:cNvPr id="5" name="TextBox 4"/>
          <p:cNvSpPr txBox="1"/>
          <p:nvPr/>
        </p:nvSpPr>
        <p:spPr>
          <a:xfrm>
            <a:off x="4291584" y="1517904"/>
            <a:ext cx="3605784" cy="640080"/>
          </a:xfrm>
          <a:prstGeom prst="rect">
            <a:avLst/>
          </a:prstGeom>
          <a:noFill/>
        </p:spPr>
        <p:txBody>
          <a:bodyPr wrap="square" lIns="0" rIns="0" tIns="0" bIns="0">
            <a:spAutoFit/>
          </a:bodyPr>
          <a:lstStyle/>
          <a:p>
            <a:pPr>
              <a:defRPr sz="1200" b="0">
                <a:solidFill>
                  <a:srgbClr val="F4F6ED"/>
                </a:solidFill>
                <a:latin typeface="Arial"/>
              </a:defRPr>
            </a:pPr>
            <a:r>
              <a:t>Diagonales Stahlgitter: Wind- und Erdbebenkräfte.</a:t>
            </a:r>
          </a:p>
        </p:txBody>
      </p:sp>
      <p:sp>
        <p:nvSpPr>
          <p:cNvPr id="6" name="TextBox 5"/>
          <p:cNvSpPr txBox="1"/>
          <p:nvPr/>
        </p:nvSpPr>
        <p:spPr>
          <a:xfrm>
            <a:off x="8125968" y="1517904"/>
            <a:ext cx="3605784" cy="640080"/>
          </a:xfrm>
          <a:prstGeom prst="rect">
            <a:avLst/>
          </a:prstGeom>
          <a:noFill/>
        </p:spPr>
        <p:txBody>
          <a:bodyPr wrap="square" lIns="0" rIns="0" tIns="0" bIns="0">
            <a:spAutoFit/>
          </a:bodyPr>
          <a:lstStyle/>
          <a:p>
            <a:pPr>
              <a:defRPr sz="1200" b="0">
                <a:solidFill>
                  <a:srgbClr val="F4F6ED"/>
                </a:solidFill>
                <a:latin typeface="Arial"/>
              </a:defRPr>
            </a:pPr>
            <a:r>
              <a:t>Auskragungen bis 52 ft ≈ 15,85 m.</a:t>
            </a:r>
          </a:p>
        </p:txBody>
      </p:sp>
      <p:pic>
        <p:nvPicPr>
          <p:cNvPr id="7" name="Picture 6" descr="Lastabtragung und Aussteifung; Johannes Fink · eigene Analyseskizze; CC BY 4.0"/>
          <p:cNvPicPr>
            <a:picLocks noChangeAspect="1"/>
          </p:cNvPicPr>
          <p:nvPr/>
        </p:nvPicPr>
        <p:blipFill>
          <a:blip r:embed="rId2"/>
          <a:stretch>
            <a:fillRect/>
          </a:stretch>
        </p:blipFill>
        <p:spPr>
          <a:xfrm>
            <a:off x="457200" y="2667084"/>
            <a:ext cx="3654552" cy="2639398"/>
          </a:xfrm>
          <a:prstGeom prst="rect">
            <a:avLst/>
          </a:prstGeom>
        </p:spPr>
      </p:pic>
      <p:sp>
        <p:nvSpPr>
          <p:cNvPr id="8" name="TextBox 7"/>
          <p:cNvSpPr txBox="1"/>
          <p:nvPr/>
        </p:nvSpPr>
        <p:spPr>
          <a:xfrm>
            <a:off x="457200" y="5760720"/>
            <a:ext cx="3654552" cy="182880"/>
          </a:xfrm>
          <a:prstGeom prst="rect">
            <a:avLst/>
          </a:prstGeom>
          <a:noFill/>
        </p:spPr>
        <p:txBody>
          <a:bodyPr wrap="square" lIns="0" rIns="0" tIns="0" bIns="0">
            <a:spAutoFit/>
          </a:bodyPr>
          <a:lstStyle/>
          <a:p>
            <a:pPr>
              <a:defRPr sz="819" b="0">
                <a:solidFill>
                  <a:srgbClr val="CCD1C2"/>
                </a:solidFill>
                <a:latin typeface="Arial"/>
              </a:defRPr>
            </a:pPr>
            <a:r>
              <a:t>A04 / Lastabtragung und Aussteifung</a:t>
            </a:r>
          </a:p>
        </p:txBody>
      </p:sp>
      <p:sp>
        <p:nvSpPr>
          <p:cNvPr id="9" name="TextBox 8"/>
          <p:cNvSpPr txBox="1"/>
          <p:nvPr/>
        </p:nvSpPr>
        <p:spPr>
          <a:xfrm>
            <a:off x="45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3"/>
              </a:rPr>
              <a:t>Johannes Fink · eigene Analyseskizze · CC BY 4.0</a:t>
            </a:r>
          </a:p>
        </p:txBody>
      </p:sp>
      <p:pic>
        <p:nvPicPr>
          <p:cNvPr id="10" name="Picture 9" descr="Diagonales Stahlgitter im Innenraum; Jan Tik; CC BY 2.0"/>
          <p:cNvPicPr>
            <a:picLocks noChangeAspect="1"/>
          </p:cNvPicPr>
          <p:nvPr/>
        </p:nvPicPr>
        <p:blipFill>
          <a:blip r:embed="rId4"/>
          <a:srcRect l="9711" r="9711"/>
          <a:stretch>
            <a:fillRect/>
          </a:stretch>
        </p:blipFill>
        <p:spPr>
          <a:xfrm>
            <a:off x="4267200" y="2286000"/>
            <a:ext cx="3654552" cy="3401568"/>
          </a:xfrm>
          <a:prstGeom prst="rect">
            <a:avLst/>
          </a:prstGeom>
        </p:spPr>
      </p:pic>
      <p:sp>
        <p:nvSpPr>
          <p:cNvPr id="11" name="TextBox 10"/>
          <p:cNvSpPr txBox="1"/>
          <p:nvPr/>
        </p:nvSpPr>
        <p:spPr>
          <a:xfrm>
            <a:off x="4267200" y="5760720"/>
            <a:ext cx="3654552" cy="182880"/>
          </a:xfrm>
          <a:prstGeom prst="rect">
            <a:avLst/>
          </a:prstGeom>
          <a:noFill/>
        </p:spPr>
        <p:txBody>
          <a:bodyPr wrap="square" lIns="0" rIns="0" tIns="0" bIns="0">
            <a:spAutoFit/>
          </a:bodyPr>
          <a:lstStyle/>
          <a:p>
            <a:pPr>
              <a:defRPr sz="819" b="0">
                <a:solidFill>
                  <a:srgbClr val="CCD1C2"/>
                </a:solidFill>
                <a:latin typeface="Arial"/>
              </a:defRPr>
            </a:pPr>
            <a:r>
              <a:t>F14 / Diagonales Stahlgitter im Innenraum</a:t>
            </a:r>
          </a:p>
        </p:txBody>
      </p:sp>
      <p:sp>
        <p:nvSpPr>
          <p:cNvPr id="12" name="TextBox 11"/>
          <p:cNvSpPr txBox="1"/>
          <p:nvPr/>
        </p:nvSpPr>
        <p:spPr>
          <a:xfrm>
            <a:off x="426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5"/>
              </a:rPr>
              <a:t>Jan Tik · CC BY 2.0</a:t>
            </a:r>
          </a:p>
        </p:txBody>
      </p:sp>
      <p:pic>
        <p:nvPicPr>
          <p:cNvPr id="13" name="Picture 12" descr="Gebäudeschnitt Nord–Süd; OMA + LMN; © OMA / LMN · keine offene Lizenz angegeben"/>
          <p:cNvPicPr>
            <a:picLocks noChangeAspect="1"/>
          </p:cNvPicPr>
          <p:nvPr/>
        </p:nvPicPr>
        <p:blipFill>
          <a:blip r:embed="rId6"/>
          <a:stretch>
            <a:fillRect/>
          </a:stretch>
        </p:blipFill>
        <p:spPr>
          <a:xfrm>
            <a:off x="8077200" y="2503644"/>
            <a:ext cx="3654552" cy="2966278"/>
          </a:xfrm>
          <a:prstGeom prst="rect">
            <a:avLst/>
          </a:prstGeom>
        </p:spPr>
      </p:pic>
      <p:sp>
        <p:nvSpPr>
          <p:cNvPr id="14" name="TextBox 13"/>
          <p:cNvSpPr txBox="1"/>
          <p:nvPr/>
        </p:nvSpPr>
        <p:spPr>
          <a:xfrm>
            <a:off x="8077200" y="5760720"/>
            <a:ext cx="3654552" cy="182880"/>
          </a:xfrm>
          <a:prstGeom prst="rect">
            <a:avLst/>
          </a:prstGeom>
          <a:noFill/>
        </p:spPr>
        <p:txBody>
          <a:bodyPr wrap="square" lIns="0" rIns="0" tIns="0" bIns="0">
            <a:spAutoFit/>
          </a:bodyPr>
          <a:lstStyle/>
          <a:p>
            <a:pPr>
              <a:defRPr sz="819" b="0">
                <a:solidFill>
                  <a:srgbClr val="CCD1C2"/>
                </a:solidFill>
                <a:latin typeface="Arial"/>
              </a:defRPr>
            </a:pPr>
            <a:r>
              <a:t>P07 / Gebäudeschnitt Nord–Süd</a:t>
            </a:r>
          </a:p>
        </p:txBody>
      </p:sp>
      <p:sp>
        <p:nvSpPr>
          <p:cNvPr id="15" name="TextBox 14"/>
          <p:cNvSpPr txBox="1"/>
          <p:nvPr/>
        </p:nvSpPr>
        <p:spPr>
          <a:xfrm>
            <a:off x="807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7"/>
              </a:rPr>
              <a:t>OMA + LMN · © OMA / LMN · keine offene Lizenz angegeben</a:t>
            </a:r>
          </a:p>
        </p:txBody>
      </p:sp>
      <p:sp>
        <p:nvSpPr>
          <p:cNvPr id="16" name="TextBox 15"/>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[MKA 6; LMN 5]</a:t>
            </a:r>
          </a:p>
        </p:txBody>
      </p:sp>
      <p:sp>
        <p:nvSpPr>
          <p:cNvPr id="17" name="TextBox 16"/>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09 / FASSADE, MATERIAL &amp; LICHT</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Glas ist hier ein konstruiertes System</a:t>
            </a:r>
          </a:p>
        </p:txBody>
      </p:sp>
      <p:sp>
        <p:nvSpPr>
          <p:cNvPr id="4" name="TextBox 3"/>
          <p:cNvSpPr txBox="1"/>
          <p:nvPr/>
        </p:nvSpPr>
        <p:spPr>
          <a:xfrm>
            <a:off x="457200" y="1517904"/>
            <a:ext cx="3605784" cy="640080"/>
          </a:xfrm>
          <a:prstGeom prst="rect">
            <a:avLst/>
          </a:prstGeom>
          <a:noFill/>
        </p:spPr>
        <p:txBody>
          <a:bodyPr wrap="square" lIns="0" rIns="0" tIns="0" bIns="0">
            <a:spAutoFit/>
          </a:bodyPr>
          <a:lstStyle/>
          <a:p>
            <a:pPr>
              <a:defRPr sz="1200" b="0">
                <a:solidFill>
                  <a:srgbClr val="F4F6ED"/>
                </a:solidFill>
                <a:latin typeface="Arial"/>
              </a:defRPr>
            </a:pPr>
            <a:r>
              <a:t>Ein Rautenmodul verbindet unterschiedliche Neigungen.</a:t>
            </a:r>
          </a:p>
        </p:txBody>
      </p:sp>
      <p:sp>
        <p:nvSpPr>
          <p:cNvPr id="5" name="TextBox 4"/>
          <p:cNvSpPr txBox="1"/>
          <p:nvPr/>
        </p:nvSpPr>
        <p:spPr>
          <a:xfrm>
            <a:off x="4291584" y="1517904"/>
            <a:ext cx="3605784" cy="640080"/>
          </a:xfrm>
          <a:prstGeom prst="rect">
            <a:avLst/>
          </a:prstGeom>
          <a:noFill/>
        </p:spPr>
        <p:txBody>
          <a:bodyPr wrap="square" lIns="0" rIns="0" tIns="0" bIns="0">
            <a:spAutoFit/>
          </a:bodyPr>
          <a:lstStyle/>
          <a:p>
            <a:pPr>
              <a:defRPr sz="1200" b="0">
                <a:solidFill>
                  <a:srgbClr val="F4F6ED"/>
                </a:solidFill>
                <a:latin typeface="Arial"/>
              </a:defRPr>
            </a:pPr>
            <a:r>
              <a:t>Streckmetall im Glas: Sonnenkontrolle und Ausblick.</a:t>
            </a:r>
          </a:p>
        </p:txBody>
      </p:sp>
      <p:sp>
        <p:nvSpPr>
          <p:cNvPr id="6" name="TextBox 5"/>
          <p:cNvSpPr txBox="1"/>
          <p:nvPr/>
        </p:nvSpPr>
        <p:spPr>
          <a:xfrm>
            <a:off x="8125968" y="1517904"/>
            <a:ext cx="3605784" cy="640080"/>
          </a:xfrm>
          <a:prstGeom prst="rect">
            <a:avLst/>
          </a:prstGeom>
          <a:noFill/>
        </p:spPr>
        <p:txBody>
          <a:bodyPr wrap="square" lIns="0" rIns="0" tIns="0" bIns="0">
            <a:spAutoFit/>
          </a:bodyPr>
          <a:lstStyle/>
          <a:p>
            <a:pPr>
              <a:defRPr sz="1200" b="0">
                <a:solidFill>
                  <a:srgbClr val="F4F6ED"/>
                </a:solidFill>
                <a:latin typeface="Arial"/>
              </a:defRPr>
            </a:pPr>
            <a:r>
              <a:t>LEED Silver ist keine heutige Verbrauchsmessung.</a:t>
            </a:r>
          </a:p>
        </p:txBody>
      </p:sp>
      <p:pic>
        <p:nvPicPr>
          <p:cNvPr id="7" name="Picture 6" descr="Fassadenschnitt: Level 4 und 5; OMA + LMN; © OMA / LMN · keine offene Lizenz angegeben"/>
          <p:cNvPicPr>
            <a:picLocks noChangeAspect="1"/>
          </p:cNvPicPr>
          <p:nvPr/>
        </p:nvPicPr>
        <p:blipFill>
          <a:blip r:embed="rId2"/>
          <a:stretch>
            <a:fillRect/>
          </a:stretch>
        </p:blipFill>
        <p:spPr>
          <a:xfrm>
            <a:off x="1266550" y="2286000"/>
            <a:ext cx="2035851" cy="3401568"/>
          </a:xfrm>
          <a:prstGeom prst="rect">
            <a:avLst/>
          </a:prstGeom>
        </p:spPr>
      </p:pic>
      <p:sp>
        <p:nvSpPr>
          <p:cNvPr id="8" name="TextBox 7"/>
          <p:cNvSpPr txBox="1"/>
          <p:nvPr/>
        </p:nvSpPr>
        <p:spPr>
          <a:xfrm>
            <a:off x="457200" y="5760720"/>
            <a:ext cx="3654552" cy="182880"/>
          </a:xfrm>
          <a:prstGeom prst="rect">
            <a:avLst/>
          </a:prstGeom>
          <a:noFill/>
        </p:spPr>
        <p:txBody>
          <a:bodyPr wrap="square" lIns="0" rIns="0" tIns="0" bIns="0">
            <a:spAutoFit/>
          </a:bodyPr>
          <a:lstStyle/>
          <a:p>
            <a:pPr>
              <a:defRPr sz="819" b="0">
                <a:solidFill>
                  <a:srgbClr val="CCD1C2"/>
                </a:solidFill>
                <a:latin typeface="Arial"/>
              </a:defRPr>
            </a:pPr>
            <a:r>
              <a:t>P09 / Fassadenschnitt: Level 4 und 5</a:t>
            </a:r>
          </a:p>
        </p:txBody>
      </p:sp>
      <p:sp>
        <p:nvSpPr>
          <p:cNvPr id="9" name="TextBox 8"/>
          <p:cNvSpPr txBox="1"/>
          <p:nvPr/>
        </p:nvSpPr>
        <p:spPr>
          <a:xfrm>
            <a:off x="45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3"/>
              </a:rPr>
              <a:t>OMA + LMN · © OMA / LMN · keine offene Lizenz angegeben</a:t>
            </a:r>
          </a:p>
        </p:txBody>
      </p:sp>
      <p:pic>
        <p:nvPicPr>
          <p:cNvPr id="10" name="Picture 9" descr="Rautenraster der Glasfassade; Andrew Smith from Seattle, WA, USA; CC BY-SA 2.0"/>
          <p:cNvPicPr>
            <a:picLocks noChangeAspect="1"/>
          </p:cNvPicPr>
          <p:nvPr/>
        </p:nvPicPr>
        <p:blipFill>
          <a:blip r:embed="rId4"/>
          <a:srcRect l="5234" r="5234"/>
          <a:stretch>
            <a:fillRect/>
          </a:stretch>
        </p:blipFill>
        <p:spPr>
          <a:xfrm>
            <a:off x="4267200" y="2286000"/>
            <a:ext cx="3654552" cy="3401568"/>
          </a:xfrm>
          <a:prstGeom prst="rect">
            <a:avLst/>
          </a:prstGeom>
        </p:spPr>
      </p:pic>
      <p:sp>
        <p:nvSpPr>
          <p:cNvPr id="11" name="TextBox 10"/>
          <p:cNvSpPr txBox="1"/>
          <p:nvPr/>
        </p:nvSpPr>
        <p:spPr>
          <a:xfrm>
            <a:off x="4267200" y="5760720"/>
            <a:ext cx="3654552" cy="182880"/>
          </a:xfrm>
          <a:prstGeom prst="rect">
            <a:avLst/>
          </a:prstGeom>
          <a:noFill/>
        </p:spPr>
        <p:txBody>
          <a:bodyPr wrap="square" lIns="0" rIns="0" tIns="0" bIns="0">
            <a:spAutoFit/>
          </a:bodyPr>
          <a:lstStyle/>
          <a:p>
            <a:pPr>
              <a:defRPr sz="819" b="0">
                <a:solidFill>
                  <a:srgbClr val="CCD1C2"/>
                </a:solidFill>
                <a:latin typeface="Arial"/>
              </a:defRPr>
            </a:pPr>
            <a:r>
              <a:t>F04 / Rautenraster der Glasfassade</a:t>
            </a:r>
          </a:p>
        </p:txBody>
      </p:sp>
      <p:sp>
        <p:nvSpPr>
          <p:cNvPr id="12" name="TextBox 11"/>
          <p:cNvSpPr txBox="1"/>
          <p:nvPr/>
        </p:nvSpPr>
        <p:spPr>
          <a:xfrm>
            <a:off x="426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5"/>
              </a:rPr>
              <a:t>Andrew Smith from Seattle, WA, USA · CC BY-SA 2.0</a:t>
            </a:r>
          </a:p>
        </p:txBody>
      </p:sp>
      <p:pic>
        <p:nvPicPr>
          <p:cNvPr id="13" name="Picture 12" descr="Transparenz mit integrierter Sonnenkontrolle; Johannes Fink · eigene Analyseskizze; CC BY 4.0"/>
          <p:cNvPicPr>
            <a:picLocks noChangeAspect="1"/>
          </p:cNvPicPr>
          <p:nvPr/>
        </p:nvPicPr>
        <p:blipFill>
          <a:blip r:embed="rId6"/>
          <a:stretch>
            <a:fillRect/>
          </a:stretch>
        </p:blipFill>
        <p:spPr>
          <a:xfrm>
            <a:off x="8077200" y="2667084"/>
            <a:ext cx="3654552" cy="2639398"/>
          </a:xfrm>
          <a:prstGeom prst="rect">
            <a:avLst/>
          </a:prstGeom>
        </p:spPr>
      </p:pic>
      <p:sp>
        <p:nvSpPr>
          <p:cNvPr id="14" name="TextBox 13"/>
          <p:cNvSpPr txBox="1"/>
          <p:nvPr/>
        </p:nvSpPr>
        <p:spPr>
          <a:xfrm>
            <a:off x="8077200" y="5760720"/>
            <a:ext cx="3654552" cy="182880"/>
          </a:xfrm>
          <a:prstGeom prst="rect">
            <a:avLst/>
          </a:prstGeom>
          <a:noFill/>
        </p:spPr>
        <p:txBody>
          <a:bodyPr wrap="square" lIns="0" rIns="0" tIns="0" bIns="0">
            <a:spAutoFit/>
          </a:bodyPr>
          <a:lstStyle/>
          <a:p>
            <a:pPr>
              <a:defRPr sz="819" b="0">
                <a:solidFill>
                  <a:srgbClr val="CCD1C2"/>
                </a:solidFill>
                <a:latin typeface="Arial"/>
              </a:defRPr>
            </a:pPr>
            <a:r>
              <a:t>A05 / Transparenz mit integrierter Sonnenkontrolle</a:t>
            </a:r>
          </a:p>
        </p:txBody>
      </p:sp>
      <p:sp>
        <p:nvSpPr>
          <p:cNvPr id="15" name="TextBox 14"/>
          <p:cNvSpPr txBox="1"/>
          <p:nvPr/>
        </p:nvSpPr>
        <p:spPr>
          <a:xfrm>
            <a:off x="807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7"/>
              </a:rPr>
              <a:t>Johannes Fink · eigene Analyseskizze · CC BY 4.0</a:t>
            </a:r>
          </a:p>
        </p:txBody>
      </p:sp>
      <p:sp>
        <p:nvSpPr>
          <p:cNvPr id="16" name="TextBox 15"/>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[LMN 5; Front 7; MKA 6]</a:t>
            </a:r>
          </a:p>
        </p:txBody>
      </p:sp>
      <p:sp>
        <p:nvSpPr>
          <p:cNvPr id="17" name="TextBox 16"/>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10 / RÄUME &amp; MATERIALWAHRNEHMUNG</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Eine Folge verschiedener Atmosphären</a:t>
            </a:r>
          </a:p>
        </p:txBody>
      </p:sp>
      <p:sp>
        <p:nvSpPr>
          <p:cNvPr id="4" name="TextBox 3"/>
          <p:cNvSpPr txBox="1"/>
          <p:nvPr/>
        </p:nvSpPr>
        <p:spPr>
          <a:xfrm>
            <a:off x="457200" y="1517904"/>
            <a:ext cx="5522976" cy="640080"/>
          </a:xfrm>
          <a:prstGeom prst="rect">
            <a:avLst/>
          </a:prstGeom>
          <a:noFill/>
        </p:spPr>
        <p:txBody>
          <a:bodyPr wrap="square" lIns="0" rIns="0" tIns="0" bIns="0">
            <a:spAutoFit/>
          </a:bodyPr>
          <a:lstStyle/>
          <a:p>
            <a:pPr>
              <a:defRPr sz="1200" b="0">
                <a:solidFill>
                  <a:srgbClr val="F4F6ED"/>
                </a:solidFill>
                <a:latin typeface="Arial"/>
              </a:defRPr>
            </a:pPr>
            <a:r>
              <a:t>Living Room · Red Floor · Reading Room.</a:t>
            </a:r>
          </a:p>
        </p:txBody>
      </p:sp>
      <p:sp>
        <p:nvSpPr>
          <p:cNvPr id="5" name="TextBox 4"/>
          <p:cNvSpPr txBox="1"/>
          <p:nvPr/>
        </p:nvSpPr>
        <p:spPr>
          <a:xfrm>
            <a:off x="6208776" y="1517904"/>
            <a:ext cx="5522976" cy="640080"/>
          </a:xfrm>
          <a:prstGeom prst="rect">
            <a:avLst/>
          </a:prstGeom>
          <a:noFill/>
        </p:spPr>
        <p:txBody>
          <a:bodyPr wrap="square" lIns="0" rIns="0" tIns="0" bIns="0">
            <a:spAutoFit/>
          </a:bodyPr>
          <a:lstStyle/>
          <a:p>
            <a:pPr>
              <a:defRPr sz="1200" b="0">
                <a:solidFill>
                  <a:srgbClr val="F4F6ED"/>
                </a:solidFill>
                <a:latin typeface="Arial"/>
              </a:defRPr>
            </a:pPr>
            <a:r>
              <a:t>Farbe, Raumhöhe und Ausblick unterscheiden die Bereiche.</a:t>
            </a:r>
          </a:p>
        </p:txBody>
      </p:sp>
      <p:pic>
        <p:nvPicPr>
          <p:cNvPr id="6" name="Picture 5" descr="Living Room · Blick auf Level 3; Vladimir Menkov; CC BY-SA 3.0"/>
          <p:cNvPicPr>
            <a:picLocks noChangeAspect="1"/>
          </p:cNvPicPr>
          <p:nvPr/>
        </p:nvPicPr>
        <p:blipFill>
          <a:blip r:embed="rId2"/>
          <a:srcRect l="9711" r="9711"/>
          <a:stretch>
            <a:fillRect/>
          </a:stretch>
        </p:blipFill>
        <p:spPr>
          <a:xfrm>
            <a:off x="457200" y="2286000"/>
            <a:ext cx="3654552" cy="3401568"/>
          </a:xfrm>
          <a:prstGeom prst="rect">
            <a:avLst/>
          </a:prstGeom>
        </p:spPr>
      </p:pic>
      <p:sp>
        <p:nvSpPr>
          <p:cNvPr id="7" name="TextBox 6"/>
          <p:cNvSpPr txBox="1"/>
          <p:nvPr/>
        </p:nvSpPr>
        <p:spPr>
          <a:xfrm>
            <a:off x="457200" y="5760720"/>
            <a:ext cx="3654552" cy="182880"/>
          </a:xfrm>
          <a:prstGeom prst="rect">
            <a:avLst/>
          </a:prstGeom>
          <a:noFill/>
        </p:spPr>
        <p:txBody>
          <a:bodyPr wrap="square" lIns="0" rIns="0" tIns="0" bIns="0">
            <a:spAutoFit/>
          </a:bodyPr>
          <a:lstStyle/>
          <a:p>
            <a:pPr>
              <a:defRPr sz="819" b="0">
                <a:solidFill>
                  <a:srgbClr val="CCD1C2"/>
                </a:solidFill>
                <a:latin typeface="Arial"/>
              </a:defRPr>
            </a:pPr>
            <a:r>
              <a:t>F06 / Living Room · Blick auf Level 3</a:t>
            </a:r>
          </a:p>
        </p:txBody>
      </p:sp>
      <p:sp>
        <p:nvSpPr>
          <p:cNvPr id="8" name="TextBox 7"/>
          <p:cNvSpPr txBox="1"/>
          <p:nvPr/>
        </p:nvSpPr>
        <p:spPr>
          <a:xfrm>
            <a:off x="45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3"/>
              </a:rPr>
              <a:t>Vladimir Menkov · CC BY-SA 3.0</a:t>
            </a:r>
          </a:p>
        </p:txBody>
      </p:sp>
      <p:pic>
        <p:nvPicPr>
          <p:cNvPr id="9" name="Picture 8" descr="Rote Treppe und Korridor; Dave Nakayama; CC BY 2.0"/>
          <p:cNvPicPr>
            <a:picLocks noChangeAspect="1"/>
          </p:cNvPicPr>
          <p:nvPr/>
        </p:nvPicPr>
        <p:blipFill>
          <a:blip r:embed="rId4"/>
          <a:srcRect l="14188" r="14188"/>
          <a:stretch>
            <a:fillRect/>
          </a:stretch>
        </p:blipFill>
        <p:spPr>
          <a:xfrm>
            <a:off x="4267200" y="2286000"/>
            <a:ext cx="3654552" cy="3401568"/>
          </a:xfrm>
          <a:prstGeom prst="rect">
            <a:avLst/>
          </a:prstGeom>
        </p:spPr>
      </p:pic>
      <p:sp>
        <p:nvSpPr>
          <p:cNvPr id="10" name="TextBox 9"/>
          <p:cNvSpPr txBox="1"/>
          <p:nvPr/>
        </p:nvSpPr>
        <p:spPr>
          <a:xfrm>
            <a:off x="4267200" y="5760720"/>
            <a:ext cx="3654552" cy="182880"/>
          </a:xfrm>
          <a:prstGeom prst="rect">
            <a:avLst/>
          </a:prstGeom>
          <a:noFill/>
        </p:spPr>
        <p:txBody>
          <a:bodyPr wrap="square" lIns="0" rIns="0" tIns="0" bIns="0">
            <a:spAutoFit/>
          </a:bodyPr>
          <a:lstStyle/>
          <a:p>
            <a:pPr>
              <a:defRPr sz="819" b="0">
                <a:solidFill>
                  <a:srgbClr val="CCD1C2"/>
                </a:solidFill>
                <a:latin typeface="Arial"/>
              </a:defRPr>
            </a:pPr>
            <a:r>
              <a:t>F09 / Rote Treppe und Korridor</a:t>
            </a:r>
          </a:p>
        </p:txBody>
      </p:sp>
      <p:sp>
        <p:nvSpPr>
          <p:cNvPr id="11" name="TextBox 10"/>
          <p:cNvSpPr txBox="1"/>
          <p:nvPr/>
        </p:nvSpPr>
        <p:spPr>
          <a:xfrm>
            <a:off x="426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5"/>
              </a:rPr>
              <a:t>Dave Nakayama · CC BY 2.0</a:t>
            </a:r>
          </a:p>
        </p:txBody>
      </p:sp>
      <p:pic>
        <p:nvPicPr>
          <p:cNvPr id="12" name="Picture 11" descr="Reading Room · Arbeitsplätze und Ausblick; Eric Hunt; CC BY 2.5"/>
          <p:cNvPicPr>
            <a:picLocks noChangeAspect="1"/>
          </p:cNvPicPr>
          <p:nvPr/>
        </p:nvPicPr>
        <p:blipFill>
          <a:blip r:embed="rId6"/>
          <a:srcRect l="14132" r="14132"/>
          <a:stretch>
            <a:fillRect/>
          </a:stretch>
        </p:blipFill>
        <p:spPr>
          <a:xfrm>
            <a:off x="8077200" y="2286000"/>
            <a:ext cx="3654552" cy="3401568"/>
          </a:xfrm>
          <a:prstGeom prst="rect">
            <a:avLst/>
          </a:prstGeom>
        </p:spPr>
      </p:pic>
      <p:sp>
        <p:nvSpPr>
          <p:cNvPr id="13" name="TextBox 12"/>
          <p:cNvSpPr txBox="1"/>
          <p:nvPr/>
        </p:nvSpPr>
        <p:spPr>
          <a:xfrm>
            <a:off x="8077200" y="5760720"/>
            <a:ext cx="3654552" cy="182880"/>
          </a:xfrm>
          <a:prstGeom prst="rect">
            <a:avLst/>
          </a:prstGeom>
          <a:noFill/>
        </p:spPr>
        <p:txBody>
          <a:bodyPr wrap="square" lIns="0" rIns="0" tIns="0" bIns="0">
            <a:spAutoFit/>
          </a:bodyPr>
          <a:lstStyle/>
          <a:p>
            <a:pPr>
              <a:defRPr sz="819" b="0">
                <a:solidFill>
                  <a:srgbClr val="CCD1C2"/>
                </a:solidFill>
                <a:latin typeface="Arial"/>
              </a:defRPr>
            </a:pPr>
            <a:r>
              <a:t>F07 / Reading Room · Arbeitsplätze und Ausblick</a:t>
            </a:r>
          </a:p>
        </p:txBody>
      </p:sp>
      <p:sp>
        <p:nvSpPr>
          <p:cNvPr id="14" name="TextBox 13"/>
          <p:cNvSpPr txBox="1"/>
          <p:nvPr/>
        </p:nvSpPr>
        <p:spPr>
          <a:xfrm>
            <a:off x="8077200" y="5916168"/>
            <a:ext cx="3654552" cy="237744"/>
          </a:xfrm>
          <a:prstGeom prst="rect">
            <a:avLst/>
          </a:prstGeom>
          <a:noFill/>
        </p:spPr>
        <p:txBody>
          <a:bodyPr wrap="square" lIns="0" rIns="0" tIns="0" bIns="0">
            <a:spAutoFit/>
          </a:bodyPr>
          <a:lstStyle/>
          <a:p>
            <a:pPr>
              <a:defRPr sz="720" b="0">
                <a:solidFill>
                  <a:srgbClr val="CCD1C2"/>
                </a:solidFill>
                <a:latin typeface="Arial"/>
              </a:defRPr>
            </a:pPr>
            <a:r>
              <a:rPr>
                <a:hlinkClick r:id="rId7"/>
              </a:rPr>
              <a:t>Eric Hunt · CC BY 2.5</a:t>
            </a:r>
          </a:p>
        </p:txBody>
      </p:sp>
      <p:sp>
        <p:nvSpPr>
          <p:cNvPr id="15" name="TextBox 14"/>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[OMA 1; SPL 2; SPL 16]</a:t>
            </a:r>
          </a:p>
        </p:txBody>
      </p:sp>
      <p:sp>
        <p:nvSpPr>
          <p:cNvPr id="16" name="TextBox 15"/>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11 / EINORDNUNG</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Eine Bibliothek als Landschaft</a:t>
            </a:r>
          </a:p>
        </p:txBody>
      </p:sp>
      <p:sp>
        <p:nvSpPr>
          <p:cNvPr id="4" name="TextBox 3"/>
          <p:cNvSpPr txBox="1"/>
          <p:nvPr/>
        </p:nvSpPr>
        <p:spPr>
          <a:xfrm>
            <a:off x="457200" y="1517904"/>
            <a:ext cx="3605784" cy="640080"/>
          </a:xfrm>
          <a:prstGeom prst="rect">
            <a:avLst/>
          </a:prstGeom>
          <a:noFill/>
        </p:spPr>
        <p:txBody>
          <a:bodyPr wrap="square" lIns="0" rIns="0" tIns="0" bIns="0">
            <a:spAutoFit/>
          </a:bodyPr>
          <a:lstStyle/>
          <a:p>
            <a:pPr>
              <a:defRPr sz="1200" b="0">
                <a:solidFill>
                  <a:srgbClr val="F4F6ED"/>
                </a:solidFill>
                <a:latin typeface="Arial"/>
              </a:defRPr>
            </a:pPr>
            <a:r>
              <a:t>1992 Jussieu: gefaltete Ebenen, nicht realisiert.</a:t>
            </a:r>
          </a:p>
        </p:txBody>
      </p:sp>
      <p:sp>
        <p:nvSpPr>
          <p:cNvPr id="5" name="TextBox 4"/>
          <p:cNvSpPr txBox="1"/>
          <p:nvPr/>
        </p:nvSpPr>
        <p:spPr>
          <a:xfrm>
            <a:off x="4291584" y="1517904"/>
            <a:ext cx="3605784" cy="640080"/>
          </a:xfrm>
          <a:prstGeom prst="rect">
            <a:avLst/>
          </a:prstGeom>
          <a:noFill/>
        </p:spPr>
        <p:txBody>
          <a:bodyPr wrap="square" lIns="0" rIns="0" tIns="0" bIns="0">
            <a:spAutoFit/>
          </a:bodyPr>
          <a:lstStyle/>
          <a:p>
            <a:pPr>
              <a:defRPr sz="1200" b="0">
                <a:solidFill>
                  <a:srgbClr val="F4F6ED"/>
                </a:solidFill>
                <a:latin typeface="Arial"/>
              </a:defRPr>
            </a:pPr>
            <a:r>
              <a:t>2004 Seattle: Plattformen und Book Spiral.</a:t>
            </a:r>
          </a:p>
        </p:txBody>
      </p:sp>
      <p:sp>
        <p:nvSpPr>
          <p:cNvPr id="6" name="TextBox 5"/>
          <p:cNvSpPr txBox="1"/>
          <p:nvPr/>
        </p:nvSpPr>
        <p:spPr>
          <a:xfrm>
            <a:off x="8125968" y="1517904"/>
            <a:ext cx="3605784" cy="640080"/>
          </a:xfrm>
          <a:prstGeom prst="rect">
            <a:avLst/>
          </a:prstGeom>
          <a:noFill/>
        </p:spPr>
        <p:txBody>
          <a:bodyPr wrap="square" lIns="0" rIns="0" tIns="0" bIns="0">
            <a:spAutoFit/>
          </a:bodyPr>
          <a:lstStyle/>
          <a:p>
            <a:pPr>
              <a:defRPr sz="1200" b="0">
                <a:solidFill>
                  <a:srgbClr val="F4F6ED"/>
                </a:solidFill>
                <a:latin typeface="Arial"/>
              </a:defRPr>
            </a:pPr>
            <a:r>
              <a:t>2017 Caen / Qatar: weitere öffentliche Leselandschaften.</a:t>
            </a:r>
          </a:p>
        </p:txBody>
      </p:sp>
      <p:pic>
        <p:nvPicPr>
          <p:cNvPr id="7" name="Picture 6" descr="Programm-Schnitt: Plattformen und öffentliche Zwischenräume; OMA; © OMA / LMN · keine offene Lizenz angegeben"/>
          <p:cNvPicPr>
            <a:picLocks noChangeAspect="1"/>
          </p:cNvPicPr>
          <p:nvPr/>
        </p:nvPicPr>
        <p:blipFill>
          <a:blip r:embed="rId2"/>
          <a:stretch>
            <a:fillRect/>
          </a:stretch>
        </p:blipFill>
        <p:spPr>
          <a:xfrm>
            <a:off x="1498126" y="2286000"/>
            <a:ext cx="3477699" cy="3401568"/>
          </a:xfrm>
          <a:prstGeom prst="rect">
            <a:avLst/>
          </a:prstGeom>
        </p:spPr>
      </p:pic>
      <p:sp>
        <p:nvSpPr>
          <p:cNvPr id="8" name="TextBox 7"/>
          <p:cNvSpPr txBox="1"/>
          <p:nvPr/>
        </p:nvSpPr>
        <p:spPr>
          <a:xfrm>
            <a:off x="457200" y="5760720"/>
            <a:ext cx="5559552" cy="182880"/>
          </a:xfrm>
          <a:prstGeom prst="rect">
            <a:avLst/>
          </a:prstGeom>
          <a:noFill/>
        </p:spPr>
        <p:txBody>
          <a:bodyPr wrap="square" lIns="0" rIns="0" tIns="0" bIns="0">
            <a:spAutoFit/>
          </a:bodyPr>
          <a:lstStyle/>
          <a:p>
            <a:pPr>
              <a:defRPr sz="819" b="0">
                <a:solidFill>
                  <a:srgbClr val="CCD1C2"/>
                </a:solidFill>
                <a:latin typeface="Arial"/>
              </a:defRPr>
            </a:pPr>
            <a:r>
              <a:t>P02 / Programm-Schnitt: Plattformen und öffentliche Zwischenräume</a:t>
            </a:r>
          </a:p>
        </p:txBody>
      </p:sp>
      <p:sp>
        <p:nvSpPr>
          <p:cNvPr id="9" name="TextBox 8"/>
          <p:cNvSpPr txBox="1"/>
          <p:nvPr/>
        </p:nvSpPr>
        <p:spPr>
          <a:xfrm>
            <a:off x="457200" y="5916168"/>
            <a:ext cx="5559552" cy="237744"/>
          </a:xfrm>
          <a:prstGeom prst="rect">
            <a:avLst/>
          </a:prstGeom>
          <a:noFill/>
        </p:spPr>
        <p:txBody>
          <a:bodyPr wrap="square" lIns="0" rIns="0" tIns="0" bIns="0">
            <a:spAutoFit/>
          </a:bodyPr>
          <a:lstStyle/>
          <a:p>
            <a:pPr>
              <a:defRPr sz="720" b="0">
                <a:solidFill>
                  <a:srgbClr val="CCD1C2"/>
                </a:solidFill>
                <a:latin typeface="Arial"/>
              </a:defRPr>
            </a:pPr>
            <a:r>
              <a:rPr>
                <a:hlinkClick r:id="rId3"/>
              </a:rPr>
              <a:t>OMA · © OMA / LMN · keine offene Lizenz angegeben</a:t>
            </a:r>
          </a:p>
        </p:txBody>
      </p:sp>
      <p:pic>
        <p:nvPicPr>
          <p:cNvPr id="10" name="Picture 9" descr="Vertikale Raumbeziehungen; brewbooks from near Seattle, USA; CC BY-SA 2.0"/>
          <p:cNvPicPr>
            <a:picLocks noChangeAspect="1"/>
          </p:cNvPicPr>
          <p:nvPr/>
        </p:nvPicPr>
        <p:blipFill>
          <a:blip r:embed="rId4"/>
          <a:srcRect t="29605" b="29605"/>
          <a:stretch>
            <a:fillRect/>
          </a:stretch>
        </p:blipFill>
        <p:spPr>
          <a:xfrm>
            <a:off x="6172200" y="2286000"/>
            <a:ext cx="5559552" cy="3401568"/>
          </a:xfrm>
          <a:prstGeom prst="rect">
            <a:avLst/>
          </a:prstGeom>
        </p:spPr>
      </p:pic>
      <p:sp>
        <p:nvSpPr>
          <p:cNvPr id="11" name="TextBox 10"/>
          <p:cNvSpPr txBox="1"/>
          <p:nvPr/>
        </p:nvSpPr>
        <p:spPr>
          <a:xfrm>
            <a:off x="6172200" y="5760720"/>
            <a:ext cx="5559552" cy="182880"/>
          </a:xfrm>
          <a:prstGeom prst="rect">
            <a:avLst/>
          </a:prstGeom>
          <a:noFill/>
        </p:spPr>
        <p:txBody>
          <a:bodyPr wrap="square" lIns="0" rIns="0" tIns="0" bIns="0">
            <a:spAutoFit/>
          </a:bodyPr>
          <a:lstStyle/>
          <a:p>
            <a:pPr>
              <a:defRPr sz="819" b="0">
                <a:solidFill>
                  <a:srgbClr val="CCD1C2"/>
                </a:solidFill>
                <a:latin typeface="Arial"/>
              </a:defRPr>
            </a:pPr>
            <a:r>
              <a:t>F13 / Vertikale Raumbeziehungen</a:t>
            </a:r>
          </a:p>
        </p:txBody>
      </p:sp>
      <p:sp>
        <p:nvSpPr>
          <p:cNvPr id="12" name="TextBox 11"/>
          <p:cNvSpPr txBox="1"/>
          <p:nvPr/>
        </p:nvSpPr>
        <p:spPr>
          <a:xfrm>
            <a:off x="6172200" y="5916168"/>
            <a:ext cx="5559552" cy="237744"/>
          </a:xfrm>
          <a:prstGeom prst="rect">
            <a:avLst/>
          </a:prstGeom>
          <a:noFill/>
        </p:spPr>
        <p:txBody>
          <a:bodyPr wrap="square" lIns="0" rIns="0" tIns="0" bIns="0">
            <a:spAutoFit/>
          </a:bodyPr>
          <a:lstStyle/>
          <a:p>
            <a:pPr>
              <a:defRPr sz="720" b="0">
                <a:solidFill>
                  <a:srgbClr val="CCD1C2"/>
                </a:solidFill>
                <a:latin typeface="Arial"/>
              </a:defRPr>
            </a:pPr>
            <a:r>
              <a:rPr>
                <a:hlinkClick r:id="rId5"/>
              </a:rPr>
              <a:t>brewbooks from near Seattle, USA · CC BY-SA 2.0</a:t>
            </a:r>
          </a:p>
        </p:txBody>
      </p:sp>
      <p:sp>
        <p:nvSpPr>
          <p:cNvPr id="13" name="TextBox 12"/>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[OMA 10–12; SPL 2; MKA 6]</a:t>
            </a:r>
          </a:p>
        </p:txBody>
      </p:sp>
      <p:sp>
        <p:nvSpPr>
          <p:cNvPr id="14" name="TextBox 13"/>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12 / FAZIT &amp; AUFGABENBEZUG</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Übertragen: die Ordnung, nicht nur die Silhouette</a:t>
            </a:r>
          </a:p>
        </p:txBody>
      </p:sp>
      <p:sp>
        <p:nvSpPr>
          <p:cNvPr id="4" name="TextBox 3"/>
          <p:cNvSpPr txBox="1"/>
          <p:nvPr/>
        </p:nvSpPr>
        <p:spPr>
          <a:xfrm>
            <a:off x="457200" y="1517904"/>
            <a:ext cx="3605784" cy="640080"/>
          </a:xfrm>
          <a:prstGeom prst="rect">
            <a:avLst/>
          </a:prstGeom>
          <a:noFill/>
        </p:spPr>
        <p:txBody>
          <a:bodyPr wrap="square" lIns="0" rIns="0" tIns="0" bIns="0">
            <a:spAutoFit/>
          </a:bodyPr>
          <a:lstStyle/>
          <a:p>
            <a:pPr>
              <a:defRPr sz="1200" b="0">
                <a:solidFill>
                  <a:srgbClr val="F4F6ED"/>
                </a:solidFill>
                <a:latin typeface="Arial"/>
              </a:defRPr>
            </a:pPr>
            <a:r>
              <a:t>Übernehmen: spezifische Räume + großzügige öffentliche Zonen.</a:t>
            </a:r>
          </a:p>
        </p:txBody>
      </p:sp>
      <p:sp>
        <p:nvSpPr>
          <p:cNvPr id="5" name="TextBox 4"/>
          <p:cNvSpPr txBox="1"/>
          <p:nvPr/>
        </p:nvSpPr>
        <p:spPr>
          <a:xfrm>
            <a:off x="4291584" y="1517904"/>
            <a:ext cx="3605784" cy="640080"/>
          </a:xfrm>
          <a:prstGeom prst="rect">
            <a:avLst/>
          </a:prstGeom>
          <a:noFill/>
        </p:spPr>
        <p:txBody>
          <a:bodyPr wrap="square" lIns="0" rIns="0" tIns="0" bIns="0">
            <a:spAutoFit/>
          </a:bodyPr>
          <a:lstStyle/>
          <a:p>
            <a:pPr>
              <a:defRPr sz="1200" b="0">
                <a:solidFill>
                  <a:srgbClr val="F4F6ED"/>
                </a:solidFill>
                <a:latin typeface="Arial"/>
              </a:defRPr>
            </a:pPr>
            <a:r>
              <a:t>Prüfen: Orientierung, Flexibilität und Wartungsaufwand.</a:t>
            </a:r>
          </a:p>
        </p:txBody>
      </p:sp>
      <p:sp>
        <p:nvSpPr>
          <p:cNvPr id="6" name="TextBox 5"/>
          <p:cNvSpPr txBox="1"/>
          <p:nvPr/>
        </p:nvSpPr>
        <p:spPr>
          <a:xfrm>
            <a:off x="8125968" y="1517904"/>
            <a:ext cx="3605784" cy="640080"/>
          </a:xfrm>
          <a:prstGeom prst="rect">
            <a:avLst/>
          </a:prstGeom>
          <a:noFill/>
        </p:spPr>
        <p:txBody>
          <a:bodyPr wrap="square" lIns="0" rIns="0" tIns="0" bIns="0">
            <a:spAutoFit/>
          </a:bodyPr>
          <a:lstStyle/>
          <a:p>
            <a:pPr>
              <a:defRPr sz="1200" b="0">
                <a:solidFill>
                  <a:srgbClr val="F4F6ED"/>
                </a:solidFill>
                <a:latin typeface="Arial"/>
              </a:defRPr>
            </a:pPr>
            <a:r>
              <a:t>Form und Programm gemeinsam entwerfen.</a:t>
            </a:r>
          </a:p>
        </p:txBody>
      </p:sp>
      <p:pic>
        <p:nvPicPr>
          <p:cNvPr id="7" name="Picture 6" descr="Fünf feste Cluster · vier Zwischenzonen; Johannes Fink · eigene Analyseskizze; CC BY 4.0"/>
          <p:cNvPicPr>
            <a:picLocks noChangeAspect="1"/>
          </p:cNvPicPr>
          <p:nvPr/>
        </p:nvPicPr>
        <p:blipFill>
          <a:blip r:embed="rId2"/>
          <a:stretch>
            <a:fillRect/>
          </a:stretch>
        </p:blipFill>
        <p:spPr>
          <a:xfrm>
            <a:off x="882044" y="2286000"/>
            <a:ext cx="4709863" cy="3401568"/>
          </a:xfrm>
          <a:prstGeom prst="rect">
            <a:avLst/>
          </a:prstGeom>
        </p:spPr>
      </p:pic>
      <p:sp>
        <p:nvSpPr>
          <p:cNvPr id="8" name="TextBox 7"/>
          <p:cNvSpPr txBox="1"/>
          <p:nvPr/>
        </p:nvSpPr>
        <p:spPr>
          <a:xfrm>
            <a:off x="457200" y="5760720"/>
            <a:ext cx="5559552" cy="182880"/>
          </a:xfrm>
          <a:prstGeom prst="rect">
            <a:avLst/>
          </a:prstGeom>
          <a:noFill/>
        </p:spPr>
        <p:txBody>
          <a:bodyPr wrap="square" lIns="0" rIns="0" tIns="0" bIns="0">
            <a:spAutoFit/>
          </a:bodyPr>
          <a:lstStyle/>
          <a:p>
            <a:pPr>
              <a:defRPr sz="819" b="0">
                <a:solidFill>
                  <a:srgbClr val="CCD1C2"/>
                </a:solidFill>
                <a:latin typeface="Arial"/>
              </a:defRPr>
            </a:pPr>
            <a:r>
              <a:t>A01 / Fünf feste Cluster · vier Zwischenzonen</a:t>
            </a:r>
          </a:p>
        </p:txBody>
      </p:sp>
      <p:sp>
        <p:nvSpPr>
          <p:cNvPr id="9" name="TextBox 8"/>
          <p:cNvSpPr txBox="1"/>
          <p:nvPr/>
        </p:nvSpPr>
        <p:spPr>
          <a:xfrm>
            <a:off x="457200" y="5916168"/>
            <a:ext cx="5559552" cy="237744"/>
          </a:xfrm>
          <a:prstGeom prst="rect">
            <a:avLst/>
          </a:prstGeom>
          <a:noFill/>
        </p:spPr>
        <p:txBody>
          <a:bodyPr wrap="square" lIns="0" rIns="0" tIns="0" bIns="0">
            <a:spAutoFit/>
          </a:bodyPr>
          <a:lstStyle/>
          <a:p>
            <a:pPr>
              <a:defRPr sz="720" b="0">
                <a:solidFill>
                  <a:srgbClr val="CCD1C2"/>
                </a:solidFill>
                <a:latin typeface="Arial"/>
              </a:defRPr>
            </a:pPr>
            <a:r>
              <a:rPr>
                <a:hlinkClick r:id="rId3"/>
              </a:rPr>
              <a:t>Johannes Fink · eigene Analyseskizze · CC BY 4.0</a:t>
            </a:r>
          </a:p>
        </p:txBody>
      </p:sp>
      <p:pic>
        <p:nvPicPr>
          <p:cNvPr id="10" name="Picture 9" descr="Stadtblock und kristalline Hülle; Dietmar Rabich; CC BY-SA 4.0"/>
          <p:cNvPicPr>
            <a:picLocks noChangeAspect="1"/>
          </p:cNvPicPr>
          <p:nvPr/>
        </p:nvPicPr>
        <p:blipFill>
          <a:blip r:embed="rId4"/>
          <a:srcRect t="15591" b="15591"/>
          <a:stretch>
            <a:fillRect/>
          </a:stretch>
        </p:blipFill>
        <p:spPr>
          <a:xfrm>
            <a:off x="6172200" y="2286000"/>
            <a:ext cx="5559552" cy="3401568"/>
          </a:xfrm>
          <a:prstGeom prst="rect">
            <a:avLst/>
          </a:prstGeom>
        </p:spPr>
      </p:pic>
      <p:sp>
        <p:nvSpPr>
          <p:cNvPr id="11" name="TextBox 10"/>
          <p:cNvSpPr txBox="1"/>
          <p:nvPr/>
        </p:nvSpPr>
        <p:spPr>
          <a:xfrm>
            <a:off x="6172200" y="5760720"/>
            <a:ext cx="5559552" cy="182880"/>
          </a:xfrm>
          <a:prstGeom prst="rect">
            <a:avLst/>
          </a:prstGeom>
          <a:noFill/>
        </p:spPr>
        <p:txBody>
          <a:bodyPr wrap="square" lIns="0" rIns="0" tIns="0" bIns="0">
            <a:spAutoFit/>
          </a:bodyPr>
          <a:lstStyle/>
          <a:p>
            <a:pPr>
              <a:defRPr sz="819" b="0">
                <a:solidFill>
                  <a:srgbClr val="CCD1C2"/>
                </a:solidFill>
                <a:latin typeface="Arial"/>
              </a:defRPr>
            </a:pPr>
            <a:r>
              <a:t>F01 / Stadtblock und kristalline Hülle</a:t>
            </a:r>
          </a:p>
        </p:txBody>
      </p:sp>
      <p:sp>
        <p:nvSpPr>
          <p:cNvPr id="12" name="TextBox 11"/>
          <p:cNvSpPr txBox="1"/>
          <p:nvPr/>
        </p:nvSpPr>
        <p:spPr>
          <a:xfrm>
            <a:off x="6172200" y="5916168"/>
            <a:ext cx="5559552" cy="237744"/>
          </a:xfrm>
          <a:prstGeom prst="rect">
            <a:avLst/>
          </a:prstGeom>
          <a:noFill/>
        </p:spPr>
        <p:txBody>
          <a:bodyPr wrap="square" lIns="0" rIns="0" tIns="0" bIns="0">
            <a:spAutoFit/>
          </a:bodyPr>
          <a:lstStyle/>
          <a:p>
            <a:pPr>
              <a:defRPr sz="720" b="0">
                <a:solidFill>
                  <a:srgbClr val="CCD1C2"/>
                </a:solidFill>
                <a:latin typeface="Arial"/>
              </a:defRPr>
            </a:pPr>
            <a:r>
              <a:rPr>
                <a:hlinkClick r:id="rId5"/>
              </a:rPr>
              <a:t>Dietmar Rabich · CC BY-SA 4.0</a:t>
            </a:r>
          </a:p>
        </p:txBody>
      </p:sp>
      <p:sp>
        <p:nvSpPr>
          <p:cNvPr id="13" name="TextBox 12"/>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Eigene Schlussfolgerung nach [OMA 1; LMN 5; Brief 14]</a:t>
            </a:r>
          </a:p>
        </p:txBody>
      </p:sp>
      <p:sp>
        <p:nvSpPr>
          <p:cNvPr id="14" name="TextBox 13"/>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ANHANG / PRIMÄRQUELLEN</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Quellen</a:t>
            </a:r>
          </a:p>
        </p:txBody>
      </p:sp>
      <p:sp>
        <p:nvSpPr>
          <p:cNvPr id="4" name="TextBox 3"/>
          <p:cNvSpPr txBox="1"/>
          <p:nvPr/>
        </p:nvSpPr>
        <p:spPr>
          <a:xfrm>
            <a:off x="457200" y="1645920"/>
            <a:ext cx="5486400" cy="256032"/>
          </a:xfrm>
          <a:prstGeom prst="rect">
            <a:avLst/>
          </a:prstGeom>
          <a:noFill/>
        </p:spPr>
        <p:txBody>
          <a:bodyPr wrap="square" lIns="0" rIns="0" tIns="0" bIns="0">
            <a:spAutoFit/>
          </a:bodyPr>
          <a:lstStyle/>
          <a:p>
            <a:pPr>
              <a:defRPr sz="919" b="1">
                <a:solidFill>
                  <a:srgbClr val="F4F6ED"/>
                </a:solidFill>
                <a:latin typeface="Arial"/>
              </a:defRPr>
            </a:pPr>
            <a:r>
              <a:t>[OMA 1] OMA · Seattle Central Library</a:t>
            </a:r>
          </a:p>
        </p:txBody>
      </p:sp>
      <p:sp>
        <p:nvSpPr>
          <p:cNvPr id="5" name="TextBox 4"/>
          <p:cNvSpPr txBox="1"/>
          <p:nvPr/>
        </p:nvSpPr>
        <p:spPr>
          <a:xfrm>
            <a:off x="457200" y="1856232"/>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2"/>
              </a:rPr>
              <a:t>www.oma.com/projects/seattle-central-library</a:t>
            </a:r>
          </a:p>
        </p:txBody>
      </p:sp>
      <p:sp>
        <p:nvSpPr>
          <p:cNvPr id="6" name="TextBox 5"/>
          <p:cNvSpPr txBox="1"/>
          <p:nvPr/>
        </p:nvSpPr>
        <p:spPr>
          <a:xfrm>
            <a:off x="6126480" y="1645920"/>
            <a:ext cx="5486400" cy="256032"/>
          </a:xfrm>
          <a:prstGeom prst="rect">
            <a:avLst/>
          </a:prstGeom>
          <a:noFill/>
        </p:spPr>
        <p:txBody>
          <a:bodyPr wrap="square" lIns="0" rIns="0" tIns="0" bIns="0">
            <a:spAutoFit/>
          </a:bodyPr>
          <a:lstStyle/>
          <a:p>
            <a:pPr>
              <a:defRPr sz="919" b="1">
                <a:solidFill>
                  <a:srgbClr val="F4F6ED"/>
                </a:solidFill>
                <a:latin typeface="Arial"/>
              </a:defRPr>
            </a:pPr>
            <a:r>
              <a:t>[SPL 2] The Seattle Public Library · Central Library Architecture</a:t>
            </a:r>
          </a:p>
        </p:txBody>
      </p:sp>
      <p:sp>
        <p:nvSpPr>
          <p:cNvPr id="7" name="TextBox 6"/>
          <p:cNvSpPr txBox="1"/>
          <p:nvPr/>
        </p:nvSpPr>
        <p:spPr>
          <a:xfrm>
            <a:off x="6126480" y="1856232"/>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3"/>
              </a:rPr>
              <a:t>www.spl.org/hours-and-locations/central-library/central-library-highlights/central-library-architecture</a:t>
            </a:r>
          </a:p>
        </p:txBody>
      </p:sp>
      <p:sp>
        <p:nvSpPr>
          <p:cNvPr id="8" name="TextBox 7"/>
          <p:cNvSpPr txBox="1"/>
          <p:nvPr/>
        </p:nvSpPr>
        <p:spPr>
          <a:xfrm>
            <a:off x="457200" y="2112264"/>
            <a:ext cx="5486400" cy="256032"/>
          </a:xfrm>
          <a:prstGeom prst="rect">
            <a:avLst/>
          </a:prstGeom>
          <a:noFill/>
        </p:spPr>
        <p:txBody>
          <a:bodyPr wrap="square" lIns="0" rIns="0" tIns="0" bIns="0">
            <a:spAutoFit/>
          </a:bodyPr>
          <a:lstStyle/>
          <a:p>
            <a:pPr>
              <a:defRPr sz="919" b="1">
                <a:solidFill>
                  <a:srgbClr val="F4F6ED"/>
                </a:solidFill>
                <a:latin typeface="Arial"/>
              </a:defRPr>
            </a:pPr>
            <a:r>
              <a:t>[SPL 3] The Seattle Public Library · Central Library History</a:t>
            </a:r>
          </a:p>
        </p:txBody>
      </p:sp>
      <p:sp>
        <p:nvSpPr>
          <p:cNvPr id="9" name="TextBox 8"/>
          <p:cNvSpPr txBox="1"/>
          <p:nvPr/>
        </p:nvSpPr>
        <p:spPr>
          <a:xfrm>
            <a:off x="457200" y="2322576"/>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4"/>
              </a:rPr>
              <a:t>www.spl.org/hours-and-locations/central-library/central-library-highlights/central-library-history</a:t>
            </a:r>
          </a:p>
        </p:txBody>
      </p:sp>
      <p:sp>
        <p:nvSpPr>
          <p:cNvPr id="10" name="TextBox 9"/>
          <p:cNvSpPr txBox="1"/>
          <p:nvPr/>
        </p:nvSpPr>
        <p:spPr>
          <a:xfrm>
            <a:off x="6126480" y="2112264"/>
            <a:ext cx="5486400" cy="256032"/>
          </a:xfrm>
          <a:prstGeom prst="rect">
            <a:avLst/>
          </a:prstGeom>
          <a:noFill/>
        </p:spPr>
        <p:txBody>
          <a:bodyPr wrap="square" lIns="0" rIns="0" tIns="0" bIns="0">
            <a:spAutoFit/>
          </a:bodyPr>
          <a:lstStyle/>
          <a:p>
            <a:pPr>
              <a:defRPr sz="919" b="1">
                <a:solidFill>
                  <a:srgbClr val="F4F6ED"/>
                </a:solidFill>
                <a:latin typeface="Arial"/>
              </a:defRPr>
            </a:pPr>
            <a:r>
              <a:t>[SPL 4] The Seattle Public Library · Central Library Highlights</a:t>
            </a:r>
          </a:p>
        </p:txBody>
      </p:sp>
      <p:sp>
        <p:nvSpPr>
          <p:cNvPr id="11" name="TextBox 10"/>
          <p:cNvSpPr txBox="1"/>
          <p:nvPr/>
        </p:nvSpPr>
        <p:spPr>
          <a:xfrm>
            <a:off x="6126480" y="2322576"/>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5"/>
              </a:rPr>
              <a:t>www.spl.org/hours-and-locations/central-library/central-library-highlights</a:t>
            </a:r>
          </a:p>
        </p:txBody>
      </p:sp>
      <p:sp>
        <p:nvSpPr>
          <p:cNvPr id="12" name="TextBox 11"/>
          <p:cNvSpPr txBox="1"/>
          <p:nvPr/>
        </p:nvSpPr>
        <p:spPr>
          <a:xfrm>
            <a:off x="457200" y="2578608"/>
            <a:ext cx="5486400" cy="256032"/>
          </a:xfrm>
          <a:prstGeom prst="rect">
            <a:avLst/>
          </a:prstGeom>
          <a:noFill/>
        </p:spPr>
        <p:txBody>
          <a:bodyPr wrap="square" lIns="0" rIns="0" tIns="0" bIns="0">
            <a:spAutoFit/>
          </a:bodyPr>
          <a:lstStyle/>
          <a:p>
            <a:pPr>
              <a:defRPr sz="919" b="1">
                <a:solidFill>
                  <a:srgbClr val="F4F6ED"/>
                </a:solidFill>
                <a:latin typeface="Arial"/>
              </a:defRPr>
            </a:pPr>
            <a:r>
              <a:t>[LMN 5] LMN Architects · Seattle Central Library Curtain Wall Design</a:t>
            </a:r>
          </a:p>
        </p:txBody>
      </p:sp>
      <p:sp>
        <p:nvSpPr>
          <p:cNvPr id="13" name="TextBox 12"/>
          <p:cNvSpPr txBox="1"/>
          <p:nvPr/>
        </p:nvSpPr>
        <p:spPr>
          <a:xfrm>
            <a:off x="457200" y="2788920"/>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6"/>
              </a:rPr>
              <a:t>lmnarchitects.com/lmn-research/seattle-central-library-curtain-wall-design</a:t>
            </a:r>
          </a:p>
        </p:txBody>
      </p:sp>
      <p:sp>
        <p:nvSpPr>
          <p:cNvPr id="14" name="TextBox 13"/>
          <p:cNvSpPr txBox="1"/>
          <p:nvPr/>
        </p:nvSpPr>
        <p:spPr>
          <a:xfrm>
            <a:off x="6126480" y="2578608"/>
            <a:ext cx="5486400" cy="256032"/>
          </a:xfrm>
          <a:prstGeom prst="rect">
            <a:avLst/>
          </a:prstGeom>
          <a:noFill/>
        </p:spPr>
        <p:txBody>
          <a:bodyPr wrap="square" lIns="0" rIns="0" tIns="0" bIns="0">
            <a:spAutoFit/>
          </a:bodyPr>
          <a:lstStyle/>
          <a:p>
            <a:pPr>
              <a:defRPr sz="919" b="1">
                <a:solidFill>
                  <a:srgbClr val="F4F6ED"/>
                </a:solidFill>
                <a:latin typeface="Arial"/>
              </a:defRPr>
            </a:pPr>
            <a:r>
              <a:t>[MKA 6] Magnusson Klemencic Associates · Seattle Central Library</a:t>
            </a:r>
          </a:p>
        </p:txBody>
      </p:sp>
      <p:sp>
        <p:nvSpPr>
          <p:cNvPr id="15" name="TextBox 14"/>
          <p:cNvSpPr txBox="1"/>
          <p:nvPr/>
        </p:nvSpPr>
        <p:spPr>
          <a:xfrm>
            <a:off x="6126480" y="2788920"/>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7"/>
              </a:rPr>
              <a:t>www.mka.com/projects/seattle-central-library/</a:t>
            </a:r>
          </a:p>
        </p:txBody>
      </p:sp>
      <p:sp>
        <p:nvSpPr>
          <p:cNvPr id="16" name="TextBox 15"/>
          <p:cNvSpPr txBox="1"/>
          <p:nvPr/>
        </p:nvSpPr>
        <p:spPr>
          <a:xfrm>
            <a:off x="457200" y="3044952"/>
            <a:ext cx="5486400" cy="256032"/>
          </a:xfrm>
          <a:prstGeom prst="rect">
            <a:avLst/>
          </a:prstGeom>
          <a:noFill/>
        </p:spPr>
        <p:txBody>
          <a:bodyPr wrap="square" lIns="0" rIns="0" tIns="0" bIns="0">
            <a:spAutoFit/>
          </a:bodyPr>
          <a:lstStyle/>
          <a:p>
            <a:pPr>
              <a:defRPr sz="919" b="1">
                <a:solidFill>
                  <a:srgbClr val="F4F6ED"/>
                </a:solidFill>
                <a:latin typeface="Arial"/>
              </a:defRPr>
            </a:pPr>
            <a:r>
              <a:t>[Front 7] Front · Seattle Central Library</a:t>
            </a:r>
          </a:p>
        </p:txBody>
      </p:sp>
      <p:sp>
        <p:nvSpPr>
          <p:cNvPr id="17" name="TextBox 16"/>
          <p:cNvSpPr txBox="1"/>
          <p:nvPr/>
        </p:nvSpPr>
        <p:spPr>
          <a:xfrm>
            <a:off x="457200" y="3255264"/>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8"/>
              </a:rPr>
              <a:t>front.global/project/seattle-central-library/</a:t>
            </a:r>
          </a:p>
        </p:txBody>
      </p:sp>
      <p:sp>
        <p:nvSpPr>
          <p:cNvPr id="18" name="TextBox 17"/>
          <p:cNvSpPr txBox="1"/>
          <p:nvPr/>
        </p:nvSpPr>
        <p:spPr>
          <a:xfrm>
            <a:off x="6126480" y="3044952"/>
            <a:ext cx="5486400" cy="256032"/>
          </a:xfrm>
          <a:prstGeom prst="rect">
            <a:avLst/>
          </a:prstGeom>
          <a:noFill/>
        </p:spPr>
        <p:txBody>
          <a:bodyPr wrap="square" lIns="0" rIns="0" tIns="0" bIns="0">
            <a:spAutoFit/>
          </a:bodyPr>
          <a:lstStyle/>
          <a:p>
            <a:pPr>
              <a:defRPr sz="919" b="1">
                <a:solidFill>
                  <a:srgbClr val="F4F6ED"/>
                </a:solidFill>
                <a:latin typeface="Arial"/>
              </a:defRPr>
            </a:pPr>
            <a:r>
              <a:t>[Pritzker 8] The Pritzker Architecture Prize · Rem Koolhaas, 2000</a:t>
            </a:r>
          </a:p>
        </p:txBody>
      </p:sp>
      <p:sp>
        <p:nvSpPr>
          <p:cNvPr id="19" name="TextBox 18"/>
          <p:cNvSpPr txBox="1"/>
          <p:nvPr/>
        </p:nvSpPr>
        <p:spPr>
          <a:xfrm>
            <a:off x="6126480" y="3255264"/>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9"/>
              </a:rPr>
              <a:t>www.pritzkerprize.com/laureates/2000</a:t>
            </a:r>
          </a:p>
        </p:txBody>
      </p:sp>
      <p:sp>
        <p:nvSpPr>
          <p:cNvPr id="20" name="TextBox 19"/>
          <p:cNvSpPr txBox="1"/>
          <p:nvPr/>
        </p:nvSpPr>
        <p:spPr>
          <a:xfrm>
            <a:off x="457200" y="3511296"/>
            <a:ext cx="5486400" cy="256032"/>
          </a:xfrm>
          <a:prstGeom prst="rect">
            <a:avLst/>
          </a:prstGeom>
          <a:noFill/>
        </p:spPr>
        <p:txBody>
          <a:bodyPr wrap="square" lIns="0" rIns="0" tIns="0" bIns="0">
            <a:spAutoFit/>
          </a:bodyPr>
          <a:lstStyle/>
          <a:p>
            <a:pPr>
              <a:defRPr sz="919" b="1">
                <a:solidFill>
                  <a:srgbClr val="F4F6ED"/>
                </a:solidFill>
                <a:latin typeface="Arial"/>
              </a:defRPr>
            </a:pPr>
            <a:r>
              <a:t>[OMA 9] OMA · Office</a:t>
            </a:r>
          </a:p>
        </p:txBody>
      </p:sp>
      <p:sp>
        <p:nvSpPr>
          <p:cNvPr id="21" name="TextBox 20"/>
          <p:cNvSpPr txBox="1"/>
          <p:nvPr/>
        </p:nvSpPr>
        <p:spPr>
          <a:xfrm>
            <a:off x="457200" y="3721608"/>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10"/>
              </a:rPr>
              <a:t>www.oma.com/office</a:t>
            </a:r>
          </a:p>
        </p:txBody>
      </p:sp>
      <p:sp>
        <p:nvSpPr>
          <p:cNvPr id="22" name="TextBox 21"/>
          <p:cNvSpPr txBox="1"/>
          <p:nvPr/>
        </p:nvSpPr>
        <p:spPr>
          <a:xfrm>
            <a:off x="6126480" y="3511296"/>
            <a:ext cx="5486400" cy="256032"/>
          </a:xfrm>
          <a:prstGeom prst="rect">
            <a:avLst/>
          </a:prstGeom>
          <a:noFill/>
        </p:spPr>
        <p:txBody>
          <a:bodyPr wrap="square" lIns="0" rIns="0" tIns="0" bIns="0">
            <a:spAutoFit/>
          </a:bodyPr>
          <a:lstStyle/>
          <a:p>
            <a:pPr>
              <a:defRPr sz="919" b="1">
                <a:solidFill>
                  <a:srgbClr val="F4F6ED"/>
                </a:solidFill>
                <a:latin typeface="Arial"/>
              </a:defRPr>
            </a:pPr>
            <a:r>
              <a:t>[OMA 10] OMA · Jussieu – Two Libraries</a:t>
            </a:r>
          </a:p>
        </p:txBody>
      </p:sp>
      <p:sp>
        <p:nvSpPr>
          <p:cNvPr id="23" name="TextBox 22"/>
          <p:cNvSpPr txBox="1"/>
          <p:nvPr/>
        </p:nvSpPr>
        <p:spPr>
          <a:xfrm>
            <a:off x="6126480" y="3721608"/>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11"/>
              </a:rPr>
              <a:t>www.oma.com/projects/jussieu-two-libraries</a:t>
            </a:r>
          </a:p>
        </p:txBody>
      </p:sp>
      <p:sp>
        <p:nvSpPr>
          <p:cNvPr id="24" name="TextBox 23"/>
          <p:cNvSpPr txBox="1"/>
          <p:nvPr/>
        </p:nvSpPr>
        <p:spPr>
          <a:xfrm>
            <a:off x="457200" y="3977639"/>
            <a:ext cx="5486400" cy="256032"/>
          </a:xfrm>
          <a:prstGeom prst="rect">
            <a:avLst/>
          </a:prstGeom>
          <a:noFill/>
        </p:spPr>
        <p:txBody>
          <a:bodyPr wrap="square" lIns="0" rIns="0" tIns="0" bIns="0">
            <a:spAutoFit/>
          </a:bodyPr>
          <a:lstStyle/>
          <a:p>
            <a:pPr>
              <a:defRPr sz="919" b="1">
                <a:solidFill>
                  <a:srgbClr val="F4F6ED"/>
                </a:solidFill>
                <a:latin typeface="Arial"/>
              </a:defRPr>
            </a:pPr>
            <a:r>
              <a:t>[OMA 11] OMA · Qatar National Library</a:t>
            </a:r>
          </a:p>
        </p:txBody>
      </p:sp>
      <p:sp>
        <p:nvSpPr>
          <p:cNvPr id="25" name="TextBox 24"/>
          <p:cNvSpPr txBox="1"/>
          <p:nvPr/>
        </p:nvSpPr>
        <p:spPr>
          <a:xfrm>
            <a:off x="457200" y="4187952"/>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12"/>
              </a:rPr>
              <a:t>www.oma.com/projects/qatar-national-library</a:t>
            </a:r>
          </a:p>
        </p:txBody>
      </p:sp>
      <p:sp>
        <p:nvSpPr>
          <p:cNvPr id="26" name="TextBox 25"/>
          <p:cNvSpPr txBox="1"/>
          <p:nvPr/>
        </p:nvSpPr>
        <p:spPr>
          <a:xfrm>
            <a:off x="6126480" y="3977639"/>
            <a:ext cx="5486400" cy="256032"/>
          </a:xfrm>
          <a:prstGeom prst="rect">
            <a:avLst/>
          </a:prstGeom>
          <a:noFill/>
        </p:spPr>
        <p:txBody>
          <a:bodyPr wrap="square" lIns="0" rIns="0" tIns="0" bIns="0">
            <a:spAutoFit/>
          </a:bodyPr>
          <a:lstStyle/>
          <a:p>
            <a:pPr>
              <a:defRPr sz="919" b="1">
                <a:solidFill>
                  <a:srgbClr val="F4F6ED"/>
                </a:solidFill>
                <a:latin typeface="Arial"/>
              </a:defRPr>
            </a:pPr>
            <a:r>
              <a:t>[OMA 12] OMA · Bibliothèque Alexis de Tocqueville</a:t>
            </a:r>
          </a:p>
        </p:txBody>
      </p:sp>
      <p:sp>
        <p:nvSpPr>
          <p:cNvPr id="27" name="TextBox 26"/>
          <p:cNvSpPr txBox="1"/>
          <p:nvPr/>
        </p:nvSpPr>
        <p:spPr>
          <a:xfrm>
            <a:off x="6126480" y="4187952"/>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13"/>
              </a:rPr>
              <a:t>www.oma.com/projects/bibliotheque-alexis-de-tocqueville</a:t>
            </a:r>
          </a:p>
        </p:txBody>
      </p:sp>
      <p:sp>
        <p:nvSpPr>
          <p:cNvPr id="28" name="TextBox 27"/>
          <p:cNvSpPr txBox="1"/>
          <p:nvPr/>
        </p:nvSpPr>
        <p:spPr>
          <a:xfrm>
            <a:off x="457200" y="4443984"/>
            <a:ext cx="5486400" cy="256032"/>
          </a:xfrm>
          <a:prstGeom prst="rect">
            <a:avLst/>
          </a:prstGeom>
          <a:noFill/>
        </p:spPr>
        <p:txBody>
          <a:bodyPr wrap="square" lIns="0" rIns="0" tIns="0" bIns="0">
            <a:spAutoFit/>
          </a:bodyPr>
          <a:lstStyle/>
          <a:p>
            <a:pPr>
              <a:defRPr sz="919" b="1">
                <a:solidFill>
                  <a:srgbClr val="F4F6ED"/>
                </a:solidFill>
                <a:latin typeface="Arial"/>
              </a:defRPr>
            </a:pPr>
            <a:r>
              <a:t>[SPL 13] The Seattle Public Library · Central Library Art</a:t>
            </a:r>
          </a:p>
        </p:txBody>
      </p:sp>
      <p:sp>
        <p:nvSpPr>
          <p:cNvPr id="29" name="TextBox 28"/>
          <p:cNvSpPr txBox="1"/>
          <p:nvPr/>
        </p:nvSpPr>
        <p:spPr>
          <a:xfrm>
            <a:off x="457200" y="4654296"/>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14"/>
              </a:rPr>
              <a:t>www.spl.org/hours-and-locations/central-library/central-library-highlights/central-library-art</a:t>
            </a:r>
          </a:p>
        </p:txBody>
      </p:sp>
      <p:sp>
        <p:nvSpPr>
          <p:cNvPr id="30" name="TextBox 29"/>
          <p:cNvSpPr txBox="1"/>
          <p:nvPr/>
        </p:nvSpPr>
        <p:spPr>
          <a:xfrm>
            <a:off x="6126480" y="4443984"/>
            <a:ext cx="5486400" cy="256032"/>
          </a:xfrm>
          <a:prstGeom prst="rect">
            <a:avLst/>
          </a:prstGeom>
          <a:noFill/>
        </p:spPr>
        <p:txBody>
          <a:bodyPr wrap="square" lIns="0" rIns="0" tIns="0" bIns="0">
            <a:spAutoFit/>
          </a:bodyPr>
          <a:lstStyle/>
          <a:p>
            <a:pPr>
              <a:defRPr sz="919" b="1">
                <a:solidFill>
                  <a:srgbClr val="F4F6ED"/>
                </a:solidFill>
                <a:latin typeface="Arial"/>
              </a:defRPr>
            </a:pPr>
            <a:r>
              <a:t>[Brief 14] Studio Kempe Thill · Die Bibliothek, Vorübung, 30.09.2026</a:t>
            </a:r>
          </a:p>
        </p:txBody>
      </p:sp>
      <p:sp>
        <p:nvSpPr>
          <p:cNvPr id="31" name="TextBox 30"/>
          <p:cNvSpPr txBox="1"/>
          <p:nvPr/>
        </p:nvSpPr>
        <p:spPr>
          <a:xfrm>
            <a:off x="6126480" y="4654296"/>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15"/>
              </a:rPr>
              <a:t>00_quellen/aufgabe_voruebung_wise26-27.pdf</a:t>
            </a:r>
          </a:p>
        </p:txBody>
      </p:sp>
      <p:sp>
        <p:nvSpPr>
          <p:cNvPr id="32" name="TextBox 31"/>
          <p:cNvSpPr txBox="1"/>
          <p:nvPr/>
        </p:nvSpPr>
        <p:spPr>
          <a:xfrm>
            <a:off x="457200" y="4910328"/>
            <a:ext cx="5486400" cy="256032"/>
          </a:xfrm>
          <a:prstGeom prst="rect">
            <a:avLst/>
          </a:prstGeom>
          <a:noFill/>
        </p:spPr>
        <p:txBody>
          <a:bodyPr wrap="square" lIns="0" rIns="0" tIns="0" bIns="0">
            <a:spAutoFit/>
          </a:bodyPr>
          <a:lstStyle/>
          <a:p>
            <a:pPr>
              <a:defRPr sz="919" b="1">
                <a:solidFill>
                  <a:srgbClr val="F4F6ED"/>
                </a:solidFill>
                <a:latin typeface="Arial"/>
              </a:defRPr>
            </a:pPr>
            <a:r>
              <a:t>[REX 15] REX · Seattle Central Library</a:t>
            </a:r>
          </a:p>
        </p:txBody>
      </p:sp>
      <p:sp>
        <p:nvSpPr>
          <p:cNvPr id="33" name="TextBox 32"/>
          <p:cNvSpPr txBox="1"/>
          <p:nvPr/>
        </p:nvSpPr>
        <p:spPr>
          <a:xfrm>
            <a:off x="457200" y="5120640"/>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16"/>
              </a:rPr>
              <a:t>rex-ny.com/project/seattle-library/</a:t>
            </a:r>
          </a:p>
        </p:txBody>
      </p:sp>
      <p:sp>
        <p:nvSpPr>
          <p:cNvPr id="34" name="TextBox 33"/>
          <p:cNvSpPr txBox="1"/>
          <p:nvPr/>
        </p:nvSpPr>
        <p:spPr>
          <a:xfrm>
            <a:off x="6126480" y="4910328"/>
            <a:ext cx="5486400" cy="256032"/>
          </a:xfrm>
          <a:prstGeom prst="rect">
            <a:avLst/>
          </a:prstGeom>
          <a:noFill/>
        </p:spPr>
        <p:txBody>
          <a:bodyPr wrap="square" lIns="0" rIns="0" tIns="0" bIns="0">
            <a:spAutoFit/>
          </a:bodyPr>
          <a:lstStyle/>
          <a:p>
            <a:pPr>
              <a:defRPr sz="919" b="1">
                <a:solidFill>
                  <a:srgbClr val="F4F6ED"/>
                </a:solidFill>
                <a:latin typeface="Arial"/>
              </a:defRPr>
            </a:pPr>
            <a:r>
              <a:t>[SPL 17] The Seattle Public Library · Audio Tour (Transkript)</a:t>
            </a:r>
          </a:p>
        </p:txBody>
      </p:sp>
      <p:sp>
        <p:nvSpPr>
          <p:cNvPr id="35" name="TextBox 34"/>
          <p:cNvSpPr txBox="1"/>
          <p:nvPr/>
        </p:nvSpPr>
        <p:spPr>
          <a:xfrm>
            <a:off x="6126480" y="5120640"/>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17"/>
              </a:rPr>
              <a:t>www.spl.org/Seattle-Public-Library/documents/transcriptions/tours/Central-Library-Audio-Tour.pdf</a:t>
            </a:r>
          </a:p>
        </p:txBody>
      </p:sp>
      <p:sp>
        <p:nvSpPr>
          <p:cNvPr id="36" name="TextBox 35"/>
          <p:cNvSpPr txBox="1"/>
          <p:nvPr/>
        </p:nvSpPr>
        <p:spPr>
          <a:xfrm>
            <a:off x="457200" y="5376672"/>
            <a:ext cx="5486400" cy="256032"/>
          </a:xfrm>
          <a:prstGeom prst="rect">
            <a:avLst/>
          </a:prstGeom>
          <a:noFill/>
        </p:spPr>
        <p:txBody>
          <a:bodyPr wrap="square" lIns="0" rIns="0" tIns="0" bIns="0">
            <a:spAutoFit/>
          </a:bodyPr>
          <a:lstStyle/>
          <a:p>
            <a:pPr>
              <a:defRPr sz="919" b="1">
                <a:solidFill>
                  <a:srgbClr val="F4F6ED"/>
                </a:solidFill>
                <a:latin typeface="Arial"/>
              </a:defRPr>
            </a:pPr>
            <a:r>
              <a:t>[SPL 16] The Seattle Public Library · Central Library Tours</a:t>
            </a:r>
          </a:p>
        </p:txBody>
      </p:sp>
      <p:sp>
        <p:nvSpPr>
          <p:cNvPr id="37" name="TextBox 36"/>
          <p:cNvSpPr txBox="1"/>
          <p:nvPr/>
        </p:nvSpPr>
        <p:spPr>
          <a:xfrm>
            <a:off x="457200" y="5586984"/>
            <a:ext cx="5486400" cy="228600"/>
          </a:xfrm>
          <a:prstGeom prst="rect">
            <a:avLst/>
          </a:prstGeom>
          <a:noFill/>
        </p:spPr>
        <p:txBody>
          <a:bodyPr wrap="square" lIns="0" rIns="0" tIns="0" bIns="0">
            <a:spAutoFit/>
          </a:bodyPr>
          <a:lstStyle/>
          <a:p>
            <a:pPr>
              <a:defRPr sz="700" b="0">
                <a:solidFill>
                  <a:srgbClr val="D9EF65"/>
                </a:solidFill>
                <a:latin typeface="Arial"/>
              </a:defRPr>
            </a:pPr>
            <a:r>
              <a:rPr>
                <a:hlinkClick r:id="rId18"/>
              </a:rPr>
              <a:t>www.spl.org/hours-and-locations/central-library/central-library-highlights/central-library-tours</a:t>
            </a:r>
          </a:p>
        </p:txBody>
      </p:sp>
      <p:sp>
        <p:nvSpPr>
          <p:cNvPr id="38" name="TextBox 37"/>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Rechercheabschluss: 11.10.2026 · vollständige Belegtexte im Repository</a:t>
            </a:r>
          </a:p>
        </p:txBody>
      </p:sp>
      <p:sp>
        <p:nvSpPr>
          <p:cNvPr id="39" name="TextBox 38"/>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ANHANG / URHEBER UND LIZENZEN</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Bildnachweise · Fotografien</a:t>
            </a:r>
          </a:p>
        </p:txBody>
      </p:sp>
      <p:sp>
        <p:nvSpPr>
          <p:cNvPr id="4" name="TextBox 3"/>
          <p:cNvSpPr txBox="1"/>
          <p:nvPr/>
        </p:nvSpPr>
        <p:spPr>
          <a:xfrm>
            <a:off x="457200" y="1645920"/>
            <a:ext cx="3593592" cy="210312"/>
          </a:xfrm>
          <a:prstGeom prst="rect">
            <a:avLst/>
          </a:prstGeom>
          <a:noFill/>
        </p:spPr>
        <p:txBody>
          <a:bodyPr wrap="square" lIns="0" rIns="0" tIns="0" bIns="0">
            <a:spAutoFit/>
          </a:bodyPr>
          <a:lstStyle/>
          <a:p>
            <a:pPr>
              <a:defRPr sz="819" b="1">
                <a:solidFill>
                  <a:srgbClr val="F4F6ED"/>
                </a:solidFill>
                <a:latin typeface="Arial"/>
              </a:defRPr>
            </a:pPr>
            <a:r>
              <a:t>F01 / Stadtblock und kristalline Hülle</a:t>
            </a:r>
          </a:p>
        </p:txBody>
      </p:sp>
      <p:sp>
        <p:nvSpPr>
          <p:cNvPr id="5" name="TextBox 4"/>
          <p:cNvSpPr txBox="1"/>
          <p:nvPr/>
        </p:nvSpPr>
        <p:spPr>
          <a:xfrm>
            <a:off x="457200" y="1847088"/>
            <a:ext cx="3593592" cy="164592"/>
          </a:xfrm>
          <a:prstGeom prst="rect">
            <a:avLst/>
          </a:prstGeom>
          <a:noFill/>
        </p:spPr>
        <p:txBody>
          <a:bodyPr wrap="square" lIns="0" rIns="0" tIns="0" bIns="0">
            <a:spAutoFit/>
          </a:bodyPr>
          <a:lstStyle/>
          <a:p>
            <a:pPr>
              <a:defRPr sz="740" b="0">
                <a:solidFill>
                  <a:srgbClr val="CCD1C2"/>
                </a:solidFill>
                <a:latin typeface="Arial"/>
              </a:defRPr>
            </a:pPr>
            <a:r>
              <a:t>Dietmar Rabich</a:t>
            </a:r>
          </a:p>
        </p:txBody>
      </p:sp>
      <p:sp>
        <p:nvSpPr>
          <p:cNvPr id="6" name="TextBox 5"/>
          <p:cNvSpPr txBox="1"/>
          <p:nvPr/>
        </p:nvSpPr>
        <p:spPr>
          <a:xfrm>
            <a:off x="457200" y="199339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2"/>
              </a:rPr>
              <a:t>CC BY-SA 4.0</a:t>
            </a:r>
          </a:p>
        </p:txBody>
      </p:sp>
      <p:sp>
        <p:nvSpPr>
          <p:cNvPr id="7" name="TextBox 6"/>
          <p:cNvSpPr txBox="1"/>
          <p:nvPr/>
        </p:nvSpPr>
        <p:spPr>
          <a:xfrm>
            <a:off x="4233672" y="1645920"/>
            <a:ext cx="3593592" cy="210312"/>
          </a:xfrm>
          <a:prstGeom prst="rect">
            <a:avLst/>
          </a:prstGeom>
          <a:noFill/>
        </p:spPr>
        <p:txBody>
          <a:bodyPr wrap="square" lIns="0" rIns="0" tIns="0" bIns="0">
            <a:spAutoFit/>
          </a:bodyPr>
          <a:lstStyle/>
          <a:p>
            <a:pPr>
              <a:defRPr sz="819" b="1">
                <a:solidFill>
                  <a:srgbClr val="F4F6ED"/>
                </a:solidFill>
                <a:latin typeface="Arial"/>
              </a:defRPr>
            </a:pPr>
            <a:r>
              <a:t>F02 / Außenansicht von Fifth Avenue / Madison Street</a:t>
            </a:r>
          </a:p>
        </p:txBody>
      </p:sp>
      <p:sp>
        <p:nvSpPr>
          <p:cNvPr id="8" name="TextBox 7"/>
          <p:cNvSpPr txBox="1"/>
          <p:nvPr/>
        </p:nvSpPr>
        <p:spPr>
          <a:xfrm>
            <a:off x="4233672" y="1847088"/>
            <a:ext cx="3593592" cy="164592"/>
          </a:xfrm>
          <a:prstGeom prst="rect">
            <a:avLst/>
          </a:prstGeom>
          <a:noFill/>
        </p:spPr>
        <p:txBody>
          <a:bodyPr wrap="square" lIns="0" rIns="0" tIns="0" bIns="0">
            <a:spAutoFit/>
          </a:bodyPr>
          <a:lstStyle/>
          <a:p>
            <a:pPr>
              <a:defRPr sz="740" b="0">
                <a:solidFill>
                  <a:srgbClr val="CCD1C2"/>
                </a:solidFill>
                <a:latin typeface="Arial"/>
              </a:defRPr>
            </a:pPr>
            <a:r>
              <a:t>Andrew Smith from Seattle, WA, USA</a:t>
            </a:r>
          </a:p>
        </p:txBody>
      </p:sp>
      <p:sp>
        <p:nvSpPr>
          <p:cNvPr id="9" name="TextBox 8"/>
          <p:cNvSpPr txBox="1"/>
          <p:nvPr/>
        </p:nvSpPr>
        <p:spPr>
          <a:xfrm>
            <a:off x="4233672" y="199339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3"/>
              </a:rPr>
              <a:t>CC BY-SA 2.0</a:t>
            </a:r>
          </a:p>
        </p:txBody>
      </p:sp>
      <p:sp>
        <p:nvSpPr>
          <p:cNvPr id="10" name="TextBox 9"/>
          <p:cNvSpPr txBox="1"/>
          <p:nvPr/>
        </p:nvSpPr>
        <p:spPr>
          <a:xfrm>
            <a:off x="8010144" y="1645920"/>
            <a:ext cx="3593592" cy="210312"/>
          </a:xfrm>
          <a:prstGeom prst="rect">
            <a:avLst/>
          </a:prstGeom>
          <a:noFill/>
        </p:spPr>
        <p:txBody>
          <a:bodyPr wrap="square" lIns="0" rIns="0" tIns="0" bIns="0">
            <a:spAutoFit/>
          </a:bodyPr>
          <a:lstStyle/>
          <a:p>
            <a:pPr>
              <a:defRPr sz="819" b="1">
                <a:solidFill>
                  <a:srgbClr val="F4F6ED"/>
                </a:solidFill>
                <a:latin typeface="Arial"/>
              </a:defRPr>
            </a:pPr>
            <a:r>
              <a:t>F04 / Rautenraster der Glasfassade</a:t>
            </a:r>
          </a:p>
        </p:txBody>
      </p:sp>
      <p:sp>
        <p:nvSpPr>
          <p:cNvPr id="11" name="TextBox 10"/>
          <p:cNvSpPr txBox="1"/>
          <p:nvPr/>
        </p:nvSpPr>
        <p:spPr>
          <a:xfrm>
            <a:off x="8010144" y="1847088"/>
            <a:ext cx="3593592" cy="164592"/>
          </a:xfrm>
          <a:prstGeom prst="rect">
            <a:avLst/>
          </a:prstGeom>
          <a:noFill/>
        </p:spPr>
        <p:txBody>
          <a:bodyPr wrap="square" lIns="0" rIns="0" tIns="0" bIns="0">
            <a:spAutoFit/>
          </a:bodyPr>
          <a:lstStyle/>
          <a:p>
            <a:pPr>
              <a:defRPr sz="740" b="0">
                <a:solidFill>
                  <a:srgbClr val="CCD1C2"/>
                </a:solidFill>
                <a:latin typeface="Arial"/>
              </a:defRPr>
            </a:pPr>
            <a:r>
              <a:t>Andrew Smith from Seattle, WA, USA</a:t>
            </a:r>
          </a:p>
        </p:txBody>
      </p:sp>
      <p:sp>
        <p:nvSpPr>
          <p:cNvPr id="12" name="TextBox 11"/>
          <p:cNvSpPr txBox="1"/>
          <p:nvPr/>
        </p:nvSpPr>
        <p:spPr>
          <a:xfrm>
            <a:off x="8010144" y="199339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4"/>
              </a:rPr>
              <a:t>CC BY-SA 2.0</a:t>
            </a:r>
          </a:p>
        </p:txBody>
      </p:sp>
      <p:sp>
        <p:nvSpPr>
          <p:cNvPr id="13" name="TextBox 12"/>
          <p:cNvSpPr txBox="1"/>
          <p:nvPr/>
        </p:nvSpPr>
        <p:spPr>
          <a:xfrm>
            <a:off x="457200" y="2148840"/>
            <a:ext cx="3593592" cy="210312"/>
          </a:xfrm>
          <a:prstGeom prst="rect">
            <a:avLst/>
          </a:prstGeom>
          <a:noFill/>
        </p:spPr>
        <p:txBody>
          <a:bodyPr wrap="square" lIns="0" rIns="0" tIns="0" bIns="0">
            <a:spAutoFit/>
          </a:bodyPr>
          <a:lstStyle/>
          <a:p>
            <a:pPr>
              <a:defRPr sz="819" b="1">
                <a:solidFill>
                  <a:srgbClr val="F4F6ED"/>
                </a:solidFill>
                <a:latin typeface="Arial"/>
              </a:defRPr>
            </a:pPr>
            <a:r>
              <a:t>F05 / Bauphase · 12. August 2003</a:t>
            </a:r>
          </a:p>
        </p:txBody>
      </p:sp>
      <p:sp>
        <p:nvSpPr>
          <p:cNvPr id="14" name="TextBox 13"/>
          <p:cNvSpPr txBox="1"/>
          <p:nvPr/>
        </p:nvSpPr>
        <p:spPr>
          <a:xfrm>
            <a:off x="457200" y="2350008"/>
            <a:ext cx="3593592" cy="164592"/>
          </a:xfrm>
          <a:prstGeom prst="rect">
            <a:avLst/>
          </a:prstGeom>
          <a:noFill/>
        </p:spPr>
        <p:txBody>
          <a:bodyPr wrap="square" lIns="0" rIns="0" tIns="0" bIns="0">
            <a:spAutoFit/>
          </a:bodyPr>
          <a:lstStyle/>
          <a:p>
            <a:pPr>
              <a:defRPr sz="740" b="0">
                <a:solidFill>
                  <a:srgbClr val="CCD1C2"/>
                </a:solidFill>
                <a:latin typeface="Arial"/>
              </a:defRPr>
            </a:pPr>
            <a:r>
              <a:t>Seattle Municipal Archives from Seattle, WA</a:t>
            </a:r>
          </a:p>
        </p:txBody>
      </p:sp>
      <p:sp>
        <p:nvSpPr>
          <p:cNvPr id="15" name="TextBox 14"/>
          <p:cNvSpPr txBox="1"/>
          <p:nvPr/>
        </p:nvSpPr>
        <p:spPr>
          <a:xfrm>
            <a:off x="457200" y="249631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5"/>
              </a:rPr>
              <a:t>CC BY 2.0</a:t>
            </a:r>
          </a:p>
        </p:txBody>
      </p:sp>
      <p:sp>
        <p:nvSpPr>
          <p:cNvPr id="16" name="TextBox 15"/>
          <p:cNvSpPr txBox="1"/>
          <p:nvPr/>
        </p:nvSpPr>
        <p:spPr>
          <a:xfrm>
            <a:off x="4233672" y="2148840"/>
            <a:ext cx="3593592" cy="210312"/>
          </a:xfrm>
          <a:prstGeom prst="rect">
            <a:avLst/>
          </a:prstGeom>
          <a:noFill/>
        </p:spPr>
        <p:txBody>
          <a:bodyPr wrap="square" lIns="0" rIns="0" tIns="0" bIns="0">
            <a:spAutoFit/>
          </a:bodyPr>
          <a:lstStyle/>
          <a:p>
            <a:pPr>
              <a:defRPr sz="819" b="1">
                <a:solidFill>
                  <a:srgbClr val="F4F6ED"/>
                </a:solidFill>
                <a:latin typeface="Arial"/>
              </a:defRPr>
            </a:pPr>
            <a:r>
              <a:t>F06 / Living Room · Blick auf Level 3</a:t>
            </a:r>
          </a:p>
        </p:txBody>
      </p:sp>
      <p:sp>
        <p:nvSpPr>
          <p:cNvPr id="17" name="TextBox 16"/>
          <p:cNvSpPr txBox="1"/>
          <p:nvPr/>
        </p:nvSpPr>
        <p:spPr>
          <a:xfrm>
            <a:off x="4233672" y="2350008"/>
            <a:ext cx="3593592" cy="164592"/>
          </a:xfrm>
          <a:prstGeom prst="rect">
            <a:avLst/>
          </a:prstGeom>
          <a:noFill/>
        </p:spPr>
        <p:txBody>
          <a:bodyPr wrap="square" lIns="0" rIns="0" tIns="0" bIns="0">
            <a:spAutoFit/>
          </a:bodyPr>
          <a:lstStyle/>
          <a:p>
            <a:pPr>
              <a:defRPr sz="740" b="0">
                <a:solidFill>
                  <a:srgbClr val="CCD1C2"/>
                </a:solidFill>
                <a:latin typeface="Arial"/>
              </a:defRPr>
            </a:pPr>
            <a:r>
              <a:t>Vladimir Menkov</a:t>
            </a:r>
          </a:p>
        </p:txBody>
      </p:sp>
      <p:sp>
        <p:nvSpPr>
          <p:cNvPr id="18" name="TextBox 17"/>
          <p:cNvSpPr txBox="1"/>
          <p:nvPr/>
        </p:nvSpPr>
        <p:spPr>
          <a:xfrm>
            <a:off x="4233672" y="249631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6"/>
              </a:rPr>
              <a:t>CC BY-SA 3.0</a:t>
            </a:r>
          </a:p>
        </p:txBody>
      </p:sp>
      <p:sp>
        <p:nvSpPr>
          <p:cNvPr id="19" name="TextBox 18"/>
          <p:cNvSpPr txBox="1"/>
          <p:nvPr/>
        </p:nvSpPr>
        <p:spPr>
          <a:xfrm>
            <a:off x="8010144" y="2148840"/>
            <a:ext cx="3593592" cy="210312"/>
          </a:xfrm>
          <a:prstGeom prst="rect">
            <a:avLst/>
          </a:prstGeom>
          <a:noFill/>
        </p:spPr>
        <p:txBody>
          <a:bodyPr wrap="square" lIns="0" rIns="0" tIns="0" bIns="0">
            <a:spAutoFit/>
          </a:bodyPr>
          <a:lstStyle/>
          <a:p>
            <a:pPr>
              <a:defRPr sz="819" b="1">
                <a:solidFill>
                  <a:srgbClr val="F4F6ED"/>
                </a:solidFill>
                <a:latin typeface="Arial"/>
              </a:defRPr>
            </a:pPr>
            <a:r>
              <a:t>F07 / Reading Room · Arbeitsplätze und Ausblick</a:t>
            </a:r>
          </a:p>
        </p:txBody>
      </p:sp>
      <p:sp>
        <p:nvSpPr>
          <p:cNvPr id="20" name="TextBox 19"/>
          <p:cNvSpPr txBox="1"/>
          <p:nvPr/>
        </p:nvSpPr>
        <p:spPr>
          <a:xfrm>
            <a:off x="8010144" y="2350008"/>
            <a:ext cx="3593592" cy="164592"/>
          </a:xfrm>
          <a:prstGeom prst="rect">
            <a:avLst/>
          </a:prstGeom>
          <a:noFill/>
        </p:spPr>
        <p:txBody>
          <a:bodyPr wrap="square" lIns="0" rIns="0" tIns="0" bIns="0">
            <a:spAutoFit/>
          </a:bodyPr>
          <a:lstStyle/>
          <a:p>
            <a:pPr>
              <a:defRPr sz="740" b="0">
                <a:solidFill>
                  <a:srgbClr val="CCD1C2"/>
                </a:solidFill>
                <a:latin typeface="Arial"/>
              </a:defRPr>
            </a:pPr>
            <a:r>
              <a:t>Eric Hunt</a:t>
            </a:r>
          </a:p>
        </p:txBody>
      </p:sp>
      <p:sp>
        <p:nvSpPr>
          <p:cNvPr id="21" name="TextBox 20"/>
          <p:cNvSpPr txBox="1"/>
          <p:nvPr/>
        </p:nvSpPr>
        <p:spPr>
          <a:xfrm>
            <a:off x="8010144" y="249631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7"/>
              </a:rPr>
              <a:t>CC BY 2.5</a:t>
            </a:r>
          </a:p>
        </p:txBody>
      </p:sp>
      <p:sp>
        <p:nvSpPr>
          <p:cNvPr id="22" name="TextBox 21"/>
          <p:cNvSpPr txBox="1"/>
          <p:nvPr/>
        </p:nvSpPr>
        <p:spPr>
          <a:xfrm>
            <a:off x="457200" y="2651760"/>
            <a:ext cx="3593592" cy="210312"/>
          </a:xfrm>
          <a:prstGeom prst="rect">
            <a:avLst/>
          </a:prstGeom>
          <a:noFill/>
        </p:spPr>
        <p:txBody>
          <a:bodyPr wrap="square" lIns="0" rIns="0" tIns="0" bIns="0">
            <a:spAutoFit/>
          </a:bodyPr>
          <a:lstStyle/>
          <a:p>
            <a:pPr>
              <a:defRPr sz="819" b="1">
                <a:solidFill>
                  <a:srgbClr val="F4F6ED"/>
                </a:solidFill>
                <a:latin typeface="Arial"/>
              </a:defRPr>
            </a:pPr>
            <a:r>
              <a:t>F09 / Rote Treppe und Korridor</a:t>
            </a:r>
          </a:p>
        </p:txBody>
      </p:sp>
      <p:sp>
        <p:nvSpPr>
          <p:cNvPr id="23" name="TextBox 22"/>
          <p:cNvSpPr txBox="1"/>
          <p:nvPr/>
        </p:nvSpPr>
        <p:spPr>
          <a:xfrm>
            <a:off x="457200" y="2852928"/>
            <a:ext cx="3593592" cy="164592"/>
          </a:xfrm>
          <a:prstGeom prst="rect">
            <a:avLst/>
          </a:prstGeom>
          <a:noFill/>
        </p:spPr>
        <p:txBody>
          <a:bodyPr wrap="square" lIns="0" rIns="0" tIns="0" bIns="0">
            <a:spAutoFit/>
          </a:bodyPr>
          <a:lstStyle/>
          <a:p>
            <a:pPr>
              <a:defRPr sz="740" b="0">
                <a:solidFill>
                  <a:srgbClr val="CCD1C2"/>
                </a:solidFill>
                <a:latin typeface="Arial"/>
              </a:defRPr>
            </a:pPr>
            <a:r>
              <a:t>Dave Nakayama</a:t>
            </a:r>
          </a:p>
        </p:txBody>
      </p:sp>
      <p:sp>
        <p:nvSpPr>
          <p:cNvPr id="24" name="TextBox 23"/>
          <p:cNvSpPr txBox="1"/>
          <p:nvPr/>
        </p:nvSpPr>
        <p:spPr>
          <a:xfrm>
            <a:off x="457200" y="299923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8"/>
              </a:rPr>
              <a:t>CC BY 2.0</a:t>
            </a:r>
          </a:p>
        </p:txBody>
      </p:sp>
      <p:sp>
        <p:nvSpPr>
          <p:cNvPr id="25" name="TextBox 24"/>
          <p:cNvSpPr txBox="1"/>
          <p:nvPr/>
        </p:nvSpPr>
        <p:spPr>
          <a:xfrm>
            <a:off x="4233672" y="2651760"/>
            <a:ext cx="3593592" cy="210312"/>
          </a:xfrm>
          <a:prstGeom prst="rect">
            <a:avLst/>
          </a:prstGeom>
          <a:noFill/>
        </p:spPr>
        <p:txBody>
          <a:bodyPr wrap="square" lIns="0" rIns="0" tIns="0" bIns="0">
            <a:spAutoFit/>
          </a:bodyPr>
          <a:lstStyle/>
          <a:p>
            <a:pPr>
              <a:defRPr sz="819" b="1">
                <a:solidFill>
                  <a:srgbClr val="F4F6ED"/>
                </a:solidFill>
                <a:latin typeface="Arial"/>
              </a:defRPr>
            </a:pPr>
            <a:r>
              <a:t>F10 / Mixing Chamber · Blick von oben</a:t>
            </a:r>
          </a:p>
        </p:txBody>
      </p:sp>
      <p:sp>
        <p:nvSpPr>
          <p:cNvPr id="26" name="TextBox 25"/>
          <p:cNvSpPr txBox="1"/>
          <p:nvPr/>
        </p:nvSpPr>
        <p:spPr>
          <a:xfrm>
            <a:off x="4233672" y="2852928"/>
            <a:ext cx="3593592" cy="164592"/>
          </a:xfrm>
          <a:prstGeom prst="rect">
            <a:avLst/>
          </a:prstGeom>
          <a:noFill/>
        </p:spPr>
        <p:txBody>
          <a:bodyPr wrap="square" lIns="0" rIns="0" tIns="0" bIns="0">
            <a:spAutoFit/>
          </a:bodyPr>
          <a:lstStyle/>
          <a:p>
            <a:pPr>
              <a:defRPr sz="740" b="0">
                <a:solidFill>
                  <a:srgbClr val="CCD1C2"/>
                </a:solidFill>
                <a:latin typeface="Arial"/>
              </a:defRPr>
            </a:pPr>
            <a:r>
              <a:t>brewbooks from near Seattle, USA</a:t>
            </a:r>
          </a:p>
        </p:txBody>
      </p:sp>
      <p:sp>
        <p:nvSpPr>
          <p:cNvPr id="27" name="TextBox 26"/>
          <p:cNvSpPr txBox="1"/>
          <p:nvPr/>
        </p:nvSpPr>
        <p:spPr>
          <a:xfrm>
            <a:off x="4233672" y="299923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9"/>
              </a:rPr>
              <a:t>CC BY-SA 2.0</a:t>
            </a:r>
          </a:p>
        </p:txBody>
      </p:sp>
      <p:sp>
        <p:nvSpPr>
          <p:cNvPr id="28" name="TextBox 27"/>
          <p:cNvSpPr txBox="1"/>
          <p:nvPr/>
        </p:nvSpPr>
        <p:spPr>
          <a:xfrm>
            <a:off x="8010144" y="2651760"/>
            <a:ext cx="3593592" cy="210312"/>
          </a:xfrm>
          <a:prstGeom prst="rect">
            <a:avLst/>
          </a:prstGeom>
          <a:noFill/>
        </p:spPr>
        <p:txBody>
          <a:bodyPr wrap="square" lIns="0" rIns="0" tIns="0" bIns="0">
            <a:spAutoFit/>
          </a:bodyPr>
          <a:lstStyle/>
          <a:p>
            <a:pPr>
              <a:defRPr sz="819" b="1">
                <a:solidFill>
                  <a:srgbClr val="F4F6ED"/>
                </a:solidFill>
                <a:latin typeface="Arial"/>
              </a:defRPr>
            </a:pPr>
            <a:r>
              <a:t>F11 / Book Spiral · Dewey-Markierungen</a:t>
            </a:r>
          </a:p>
        </p:txBody>
      </p:sp>
      <p:sp>
        <p:nvSpPr>
          <p:cNvPr id="29" name="TextBox 28"/>
          <p:cNvSpPr txBox="1"/>
          <p:nvPr/>
        </p:nvSpPr>
        <p:spPr>
          <a:xfrm>
            <a:off x="8010144" y="2852928"/>
            <a:ext cx="3593592" cy="164592"/>
          </a:xfrm>
          <a:prstGeom prst="rect">
            <a:avLst/>
          </a:prstGeom>
          <a:noFill/>
        </p:spPr>
        <p:txBody>
          <a:bodyPr wrap="square" lIns="0" rIns="0" tIns="0" bIns="0">
            <a:spAutoFit/>
          </a:bodyPr>
          <a:lstStyle/>
          <a:p>
            <a:pPr>
              <a:defRPr sz="740" b="0">
                <a:solidFill>
                  <a:srgbClr val="CCD1C2"/>
                </a:solidFill>
                <a:latin typeface="Arial"/>
              </a:defRPr>
            </a:pPr>
            <a:r>
              <a:t>brewbooks from near Seattle, USA</a:t>
            </a:r>
          </a:p>
        </p:txBody>
      </p:sp>
      <p:sp>
        <p:nvSpPr>
          <p:cNvPr id="30" name="TextBox 29"/>
          <p:cNvSpPr txBox="1"/>
          <p:nvPr/>
        </p:nvSpPr>
        <p:spPr>
          <a:xfrm>
            <a:off x="8010144" y="299923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10"/>
              </a:rPr>
              <a:t>CC BY-SA 2.0</a:t>
            </a:r>
          </a:p>
        </p:txBody>
      </p:sp>
      <p:sp>
        <p:nvSpPr>
          <p:cNvPr id="31" name="TextBox 30"/>
          <p:cNvSpPr txBox="1"/>
          <p:nvPr/>
        </p:nvSpPr>
        <p:spPr>
          <a:xfrm>
            <a:off x="457200" y="3154680"/>
            <a:ext cx="3593592" cy="210312"/>
          </a:xfrm>
          <a:prstGeom prst="rect">
            <a:avLst/>
          </a:prstGeom>
          <a:noFill/>
        </p:spPr>
        <p:txBody>
          <a:bodyPr wrap="square" lIns="0" rIns="0" tIns="0" bIns="0">
            <a:spAutoFit/>
          </a:bodyPr>
          <a:lstStyle/>
          <a:p>
            <a:pPr>
              <a:defRPr sz="819" b="1">
                <a:solidFill>
                  <a:srgbClr val="F4F6ED"/>
                </a:solidFill>
                <a:latin typeface="Arial"/>
              </a:defRPr>
            </a:pPr>
            <a:r>
              <a:t>F12 / Book Spiral · obere Bereiche</a:t>
            </a:r>
          </a:p>
        </p:txBody>
      </p:sp>
      <p:sp>
        <p:nvSpPr>
          <p:cNvPr id="32" name="TextBox 31"/>
          <p:cNvSpPr txBox="1"/>
          <p:nvPr/>
        </p:nvSpPr>
        <p:spPr>
          <a:xfrm>
            <a:off x="457200" y="3355848"/>
            <a:ext cx="3593592" cy="164592"/>
          </a:xfrm>
          <a:prstGeom prst="rect">
            <a:avLst/>
          </a:prstGeom>
          <a:noFill/>
        </p:spPr>
        <p:txBody>
          <a:bodyPr wrap="square" lIns="0" rIns="0" tIns="0" bIns="0">
            <a:spAutoFit/>
          </a:bodyPr>
          <a:lstStyle/>
          <a:p>
            <a:pPr>
              <a:defRPr sz="740" b="0">
                <a:solidFill>
                  <a:srgbClr val="CCD1C2"/>
                </a:solidFill>
                <a:latin typeface="Arial"/>
              </a:defRPr>
            </a:pPr>
            <a:r>
              <a:t>brewbooks from near Seattle, USA</a:t>
            </a:r>
          </a:p>
        </p:txBody>
      </p:sp>
      <p:sp>
        <p:nvSpPr>
          <p:cNvPr id="33" name="TextBox 32"/>
          <p:cNvSpPr txBox="1"/>
          <p:nvPr/>
        </p:nvSpPr>
        <p:spPr>
          <a:xfrm>
            <a:off x="457200" y="350215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11"/>
              </a:rPr>
              <a:t>CC BY-SA 2.0</a:t>
            </a:r>
          </a:p>
        </p:txBody>
      </p:sp>
      <p:sp>
        <p:nvSpPr>
          <p:cNvPr id="34" name="TextBox 33"/>
          <p:cNvSpPr txBox="1"/>
          <p:nvPr/>
        </p:nvSpPr>
        <p:spPr>
          <a:xfrm>
            <a:off x="4233672" y="3154680"/>
            <a:ext cx="3593592" cy="210312"/>
          </a:xfrm>
          <a:prstGeom prst="rect">
            <a:avLst/>
          </a:prstGeom>
          <a:noFill/>
        </p:spPr>
        <p:txBody>
          <a:bodyPr wrap="square" lIns="0" rIns="0" tIns="0" bIns="0">
            <a:spAutoFit/>
          </a:bodyPr>
          <a:lstStyle/>
          <a:p>
            <a:pPr>
              <a:defRPr sz="819" b="1">
                <a:solidFill>
                  <a:srgbClr val="F4F6ED"/>
                </a:solidFill>
                <a:latin typeface="Arial"/>
              </a:defRPr>
            </a:pPr>
            <a:r>
              <a:t>F13 / Vertikale Raumbeziehungen</a:t>
            </a:r>
          </a:p>
        </p:txBody>
      </p:sp>
      <p:sp>
        <p:nvSpPr>
          <p:cNvPr id="35" name="TextBox 34"/>
          <p:cNvSpPr txBox="1"/>
          <p:nvPr/>
        </p:nvSpPr>
        <p:spPr>
          <a:xfrm>
            <a:off x="4233672" y="3355848"/>
            <a:ext cx="3593592" cy="164592"/>
          </a:xfrm>
          <a:prstGeom prst="rect">
            <a:avLst/>
          </a:prstGeom>
          <a:noFill/>
        </p:spPr>
        <p:txBody>
          <a:bodyPr wrap="square" lIns="0" rIns="0" tIns="0" bIns="0">
            <a:spAutoFit/>
          </a:bodyPr>
          <a:lstStyle/>
          <a:p>
            <a:pPr>
              <a:defRPr sz="740" b="0">
                <a:solidFill>
                  <a:srgbClr val="CCD1C2"/>
                </a:solidFill>
                <a:latin typeface="Arial"/>
              </a:defRPr>
            </a:pPr>
            <a:r>
              <a:t>brewbooks from near Seattle, USA</a:t>
            </a:r>
          </a:p>
        </p:txBody>
      </p:sp>
      <p:sp>
        <p:nvSpPr>
          <p:cNvPr id="36" name="TextBox 35"/>
          <p:cNvSpPr txBox="1"/>
          <p:nvPr/>
        </p:nvSpPr>
        <p:spPr>
          <a:xfrm>
            <a:off x="4233672" y="350215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12"/>
              </a:rPr>
              <a:t>CC BY-SA 2.0</a:t>
            </a:r>
          </a:p>
        </p:txBody>
      </p:sp>
      <p:sp>
        <p:nvSpPr>
          <p:cNvPr id="37" name="TextBox 36"/>
          <p:cNvSpPr txBox="1"/>
          <p:nvPr/>
        </p:nvSpPr>
        <p:spPr>
          <a:xfrm>
            <a:off x="8010144" y="3154680"/>
            <a:ext cx="3593592" cy="210312"/>
          </a:xfrm>
          <a:prstGeom prst="rect">
            <a:avLst/>
          </a:prstGeom>
          <a:noFill/>
        </p:spPr>
        <p:txBody>
          <a:bodyPr wrap="square" lIns="0" rIns="0" tIns="0" bIns="0">
            <a:spAutoFit/>
          </a:bodyPr>
          <a:lstStyle/>
          <a:p>
            <a:pPr>
              <a:defRPr sz="819" b="1">
                <a:solidFill>
                  <a:srgbClr val="F4F6ED"/>
                </a:solidFill>
                <a:latin typeface="Arial"/>
              </a:defRPr>
            </a:pPr>
            <a:r>
              <a:t>F14 / Diagonales Stahlgitter im Innenraum</a:t>
            </a:r>
          </a:p>
        </p:txBody>
      </p:sp>
      <p:sp>
        <p:nvSpPr>
          <p:cNvPr id="38" name="TextBox 37"/>
          <p:cNvSpPr txBox="1"/>
          <p:nvPr/>
        </p:nvSpPr>
        <p:spPr>
          <a:xfrm>
            <a:off x="8010144" y="3355848"/>
            <a:ext cx="3593592" cy="164592"/>
          </a:xfrm>
          <a:prstGeom prst="rect">
            <a:avLst/>
          </a:prstGeom>
          <a:noFill/>
        </p:spPr>
        <p:txBody>
          <a:bodyPr wrap="square" lIns="0" rIns="0" tIns="0" bIns="0">
            <a:spAutoFit/>
          </a:bodyPr>
          <a:lstStyle/>
          <a:p>
            <a:pPr>
              <a:defRPr sz="740" b="0">
                <a:solidFill>
                  <a:srgbClr val="CCD1C2"/>
                </a:solidFill>
                <a:latin typeface="Arial"/>
              </a:defRPr>
            </a:pPr>
            <a:r>
              <a:t>Jan Tik</a:t>
            </a:r>
          </a:p>
        </p:txBody>
      </p:sp>
      <p:sp>
        <p:nvSpPr>
          <p:cNvPr id="39" name="TextBox 38"/>
          <p:cNvSpPr txBox="1"/>
          <p:nvPr/>
        </p:nvSpPr>
        <p:spPr>
          <a:xfrm>
            <a:off x="8010144" y="350215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13"/>
              </a:rPr>
              <a:t>CC BY 2.0</a:t>
            </a:r>
          </a:p>
        </p:txBody>
      </p:sp>
      <p:sp>
        <p:nvSpPr>
          <p:cNvPr id="40" name="TextBox 39"/>
          <p:cNvSpPr txBox="1"/>
          <p:nvPr/>
        </p:nvSpPr>
        <p:spPr>
          <a:xfrm>
            <a:off x="457200" y="3657600"/>
            <a:ext cx="3593592" cy="210312"/>
          </a:xfrm>
          <a:prstGeom prst="rect">
            <a:avLst/>
          </a:prstGeom>
          <a:noFill/>
        </p:spPr>
        <p:txBody>
          <a:bodyPr wrap="square" lIns="0" rIns="0" tIns="0" bIns="0">
            <a:spAutoFit/>
          </a:bodyPr>
          <a:lstStyle/>
          <a:p>
            <a:pPr>
              <a:defRPr sz="819" b="1">
                <a:solidFill>
                  <a:srgbClr val="F4F6ED"/>
                </a:solidFill>
                <a:latin typeface="Arial"/>
              </a:defRPr>
            </a:pPr>
            <a:r>
              <a:t>F15 / Children’s Library</a:t>
            </a:r>
          </a:p>
        </p:txBody>
      </p:sp>
      <p:sp>
        <p:nvSpPr>
          <p:cNvPr id="41" name="TextBox 40"/>
          <p:cNvSpPr txBox="1"/>
          <p:nvPr/>
        </p:nvSpPr>
        <p:spPr>
          <a:xfrm>
            <a:off x="457200" y="3858768"/>
            <a:ext cx="3593592" cy="164592"/>
          </a:xfrm>
          <a:prstGeom prst="rect">
            <a:avLst/>
          </a:prstGeom>
          <a:noFill/>
        </p:spPr>
        <p:txBody>
          <a:bodyPr wrap="square" lIns="0" rIns="0" tIns="0" bIns="0">
            <a:spAutoFit/>
          </a:bodyPr>
          <a:lstStyle/>
          <a:p>
            <a:pPr>
              <a:defRPr sz="740" b="0">
                <a:solidFill>
                  <a:srgbClr val="CCD1C2"/>
                </a:solidFill>
                <a:latin typeface="Arial"/>
              </a:defRPr>
            </a:pPr>
            <a:r>
              <a:t>brewbooks from near Seattle, USA</a:t>
            </a:r>
          </a:p>
        </p:txBody>
      </p:sp>
      <p:sp>
        <p:nvSpPr>
          <p:cNvPr id="42" name="TextBox 41"/>
          <p:cNvSpPr txBox="1"/>
          <p:nvPr/>
        </p:nvSpPr>
        <p:spPr>
          <a:xfrm>
            <a:off x="457200" y="400507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14"/>
              </a:rPr>
              <a:t>CC BY-SA 2.0</a:t>
            </a:r>
          </a:p>
        </p:txBody>
      </p:sp>
      <p:sp>
        <p:nvSpPr>
          <p:cNvPr id="43" name="TextBox 42"/>
          <p:cNvSpPr txBox="1"/>
          <p:nvPr/>
        </p:nvSpPr>
        <p:spPr>
          <a:xfrm>
            <a:off x="4233672" y="3657600"/>
            <a:ext cx="3593592" cy="210312"/>
          </a:xfrm>
          <a:prstGeom prst="rect">
            <a:avLst/>
          </a:prstGeom>
          <a:noFill/>
        </p:spPr>
        <p:txBody>
          <a:bodyPr wrap="square" lIns="0" rIns="0" tIns="0" bIns="0">
            <a:spAutoFit/>
          </a:bodyPr>
          <a:lstStyle/>
          <a:p>
            <a:pPr>
              <a:defRPr sz="819" b="1">
                <a:solidFill>
                  <a:srgbClr val="F4F6ED"/>
                </a:solidFill>
                <a:latin typeface="Arial"/>
              </a:defRPr>
            </a:pPr>
            <a:r>
              <a:t>F17 / Innenaufnahme im Eröffnungsjahr 2004</a:t>
            </a:r>
          </a:p>
        </p:txBody>
      </p:sp>
      <p:sp>
        <p:nvSpPr>
          <p:cNvPr id="44" name="TextBox 43"/>
          <p:cNvSpPr txBox="1"/>
          <p:nvPr/>
        </p:nvSpPr>
        <p:spPr>
          <a:xfrm>
            <a:off x="4233672" y="3858768"/>
            <a:ext cx="3593592" cy="164592"/>
          </a:xfrm>
          <a:prstGeom prst="rect">
            <a:avLst/>
          </a:prstGeom>
          <a:noFill/>
        </p:spPr>
        <p:txBody>
          <a:bodyPr wrap="square" lIns="0" rIns="0" tIns="0" bIns="0">
            <a:spAutoFit/>
          </a:bodyPr>
          <a:lstStyle/>
          <a:p>
            <a:pPr>
              <a:defRPr sz="740" b="0">
                <a:solidFill>
                  <a:srgbClr val="CCD1C2"/>
                </a:solidFill>
                <a:latin typeface="Arial"/>
              </a:defRPr>
            </a:pPr>
            <a:r>
              <a:t>Jim Harper</a:t>
            </a:r>
          </a:p>
        </p:txBody>
      </p:sp>
      <p:sp>
        <p:nvSpPr>
          <p:cNvPr id="45" name="TextBox 44"/>
          <p:cNvSpPr txBox="1"/>
          <p:nvPr/>
        </p:nvSpPr>
        <p:spPr>
          <a:xfrm>
            <a:off x="4233672" y="400507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15"/>
              </a:rPr>
              <a:t>CC BY-SA 1.0</a:t>
            </a:r>
          </a:p>
        </p:txBody>
      </p:sp>
      <p:sp>
        <p:nvSpPr>
          <p:cNvPr id="46" name="TextBox 45"/>
          <p:cNvSpPr txBox="1"/>
          <p:nvPr/>
        </p:nvSpPr>
        <p:spPr>
          <a:xfrm>
            <a:off x="8010144" y="3657600"/>
            <a:ext cx="3593592" cy="210312"/>
          </a:xfrm>
          <a:prstGeom prst="rect">
            <a:avLst/>
          </a:prstGeom>
          <a:noFill/>
        </p:spPr>
        <p:txBody>
          <a:bodyPr wrap="square" lIns="0" rIns="0" tIns="0" bIns="0">
            <a:spAutoFit/>
          </a:bodyPr>
          <a:lstStyle/>
          <a:p>
            <a:pPr>
              <a:defRPr sz="819" b="1">
                <a:solidFill>
                  <a:srgbClr val="F4F6ED"/>
                </a:solidFill>
                <a:latin typeface="Arial"/>
              </a:defRPr>
            </a:pPr>
            <a:r>
              <a:t>F18 / Stadtbezug · erhöhte Perspektive</a:t>
            </a:r>
          </a:p>
        </p:txBody>
      </p:sp>
      <p:sp>
        <p:nvSpPr>
          <p:cNvPr id="47" name="TextBox 46"/>
          <p:cNvSpPr txBox="1"/>
          <p:nvPr/>
        </p:nvSpPr>
        <p:spPr>
          <a:xfrm>
            <a:off x="8010144" y="3858768"/>
            <a:ext cx="3593592" cy="164592"/>
          </a:xfrm>
          <a:prstGeom prst="rect">
            <a:avLst/>
          </a:prstGeom>
          <a:noFill/>
        </p:spPr>
        <p:txBody>
          <a:bodyPr wrap="square" lIns="0" rIns="0" tIns="0" bIns="0">
            <a:spAutoFit/>
          </a:bodyPr>
          <a:lstStyle/>
          <a:p>
            <a:pPr>
              <a:defRPr sz="740" b="0">
                <a:solidFill>
                  <a:srgbClr val="CCD1C2"/>
                </a:solidFill>
                <a:latin typeface="Arial"/>
              </a:defRPr>
            </a:pPr>
            <a:r>
              <a:t>SounderBruce</a:t>
            </a:r>
          </a:p>
        </p:txBody>
      </p:sp>
      <p:sp>
        <p:nvSpPr>
          <p:cNvPr id="48" name="TextBox 47"/>
          <p:cNvSpPr txBox="1"/>
          <p:nvPr/>
        </p:nvSpPr>
        <p:spPr>
          <a:xfrm>
            <a:off x="8010144" y="400507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16"/>
              </a:rPr>
              <a:t>CC BY-SA 4.0</a:t>
            </a:r>
          </a:p>
        </p:txBody>
      </p:sp>
      <p:sp>
        <p:nvSpPr>
          <p:cNvPr id="49" name="TextBox 48"/>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Vollständige Nachweise: 01_recherche/bildnachweis.md · Originale und Sidecars im Repository</a:t>
            </a:r>
          </a:p>
        </p:txBody>
      </p:sp>
      <p:sp>
        <p:nvSpPr>
          <p:cNvPr id="50" name="TextBox 49"/>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6221B"/>
        </a:solidFill>
        <a:effectLst/>
      </p:bgPr>
    </p:bg>
    <p:spTree>
      <p:nvGrpSpPr>
        <p:cNvPr id="1" name=""/>
        <p:cNvGrpSpPr/>
        <p:nvPr/>
      </p:nvGrpSpPr>
      <p:grpSpPr/>
      <p:sp>
        <p:nvSpPr>
          <p:cNvPr id="2" name="TextBox 1"/>
          <p:cNvSpPr txBox="1"/>
          <p:nvPr/>
        </p:nvSpPr>
        <p:spPr>
          <a:xfrm>
            <a:off x="457200" y="384048"/>
            <a:ext cx="10972800" cy="274320"/>
          </a:xfrm>
          <a:prstGeom prst="rect">
            <a:avLst/>
          </a:prstGeom>
          <a:noFill/>
        </p:spPr>
        <p:txBody>
          <a:bodyPr wrap="square" lIns="0" rIns="0" tIns="0" bIns="0">
            <a:spAutoFit/>
          </a:bodyPr>
          <a:lstStyle/>
          <a:p>
            <a:pPr>
              <a:defRPr sz="1000" b="0">
                <a:solidFill>
                  <a:srgbClr val="D9EF65"/>
                </a:solidFill>
                <a:latin typeface="Courier New"/>
              </a:defRPr>
            </a:pPr>
            <a:r>
              <a:t>ANHANG / ORIGINAL UND EIGENE DARSTELLUNG</a:t>
            </a:r>
          </a:p>
        </p:txBody>
      </p:sp>
      <p:sp>
        <p:nvSpPr>
          <p:cNvPr id="3" name="TextBox 2"/>
          <p:cNvSpPr txBox="1"/>
          <p:nvPr/>
        </p:nvSpPr>
        <p:spPr>
          <a:xfrm>
            <a:off x="457200" y="777240"/>
            <a:ext cx="11247120" cy="685800"/>
          </a:xfrm>
          <a:prstGeom prst="rect">
            <a:avLst/>
          </a:prstGeom>
          <a:noFill/>
        </p:spPr>
        <p:txBody>
          <a:bodyPr wrap="square" lIns="0" rIns="0" tIns="0" bIns="0">
            <a:spAutoFit/>
          </a:bodyPr>
          <a:lstStyle/>
          <a:p>
            <a:pPr>
              <a:defRPr sz="3400" b="0">
                <a:solidFill>
                  <a:srgbClr val="F4F6ED"/>
                </a:solidFill>
                <a:latin typeface="Georgia"/>
              </a:defRPr>
            </a:pPr>
            <a:r>
              <a:t>Zeichnungsnachweise · Pläne und Analysen</a:t>
            </a:r>
          </a:p>
        </p:txBody>
      </p:sp>
      <p:sp>
        <p:nvSpPr>
          <p:cNvPr id="4" name="TextBox 3"/>
          <p:cNvSpPr txBox="1"/>
          <p:nvPr/>
        </p:nvSpPr>
        <p:spPr>
          <a:xfrm>
            <a:off x="457200" y="1645920"/>
            <a:ext cx="3593592" cy="210312"/>
          </a:xfrm>
          <a:prstGeom prst="rect">
            <a:avLst/>
          </a:prstGeom>
          <a:noFill/>
        </p:spPr>
        <p:txBody>
          <a:bodyPr wrap="square" lIns="0" rIns="0" tIns="0" bIns="0">
            <a:spAutoFit/>
          </a:bodyPr>
          <a:lstStyle/>
          <a:p>
            <a:pPr>
              <a:defRPr sz="819" b="1">
                <a:solidFill>
                  <a:srgbClr val="F4F6ED"/>
                </a:solidFill>
                <a:latin typeface="Arial"/>
              </a:defRPr>
            </a:pPr>
            <a:r>
              <a:t>P01 / Lageplan: Sichtachsen zur Elliott Bay, zum Mount Rainier und von I-5</a:t>
            </a:r>
          </a:p>
        </p:txBody>
      </p:sp>
      <p:sp>
        <p:nvSpPr>
          <p:cNvPr id="5" name="TextBox 4"/>
          <p:cNvSpPr txBox="1"/>
          <p:nvPr/>
        </p:nvSpPr>
        <p:spPr>
          <a:xfrm>
            <a:off x="457200" y="1847088"/>
            <a:ext cx="3593592" cy="164592"/>
          </a:xfrm>
          <a:prstGeom prst="rect">
            <a:avLst/>
          </a:prstGeom>
          <a:noFill/>
        </p:spPr>
        <p:txBody>
          <a:bodyPr wrap="square" lIns="0" rIns="0" tIns="0" bIns="0">
            <a:spAutoFit/>
          </a:bodyPr>
          <a:lstStyle/>
          <a:p>
            <a:pPr>
              <a:defRPr sz="740" b="0">
                <a:solidFill>
                  <a:srgbClr val="CCD1C2"/>
                </a:solidFill>
                <a:latin typeface="Arial"/>
              </a:defRPr>
            </a:pPr>
            <a:r>
              <a:t>OMA</a:t>
            </a:r>
          </a:p>
        </p:txBody>
      </p:sp>
      <p:sp>
        <p:nvSpPr>
          <p:cNvPr id="6" name="TextBox 5"/>
          <p:cNvSpPr txBox="1"/>
          <p:nvPr/>
        </p:nvSpPr>
        <p:spPr>
          <a:xfrm>
            <a:off x="457200" y="199339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2"/>
              </a:rPr>
              <a:t>© OMA / LMN · keine offene Lizenz angegeben</a:t>
            </a:r>
          </a:p>
        </p:txBody>
      </p:sp>
      <p:sp>
        <p:nvSpPr>
          <p:cNvPr id="7" name="TextBox 6"/>
          <p:cNvSpPr txBox="1"/>
          <p:nvPr/>
        </p:nvSpPr>
        <p:spPr>
          <a:xfrm>
            <a:off x="4233672" y="1645920"/>
            <a:ext cx="3593592" cy="210312"/>
          </a:xfrm>
          <a:prstGeom prst="rect">
            <a:avLst/>
          </a:prstGeom>
          <a:noFill/>
        </p:spPr>
        <p:txBody>
          <a:bodyPr wrap="square" lIns="0" rIns="0" tIns="0" bIns="0">
            <a:spAutoFit/>
          </a:bodyPr>
          <a:lstStyle/>
          <a:p>
            <a:pPr>
              <a:defRPr sz="819" b="1">
                <a:solidFill>
                  <a:srgbClr val="F4F6ED"/>
                </a:solidFill>
                <a:latin typeface="Arial"/>
              </a:defRPr>
            </a:pPr>
            <a:r>
              <a:t>P02 / Programm-Schnitt: Plattformen und öffentliche Zwischenräume</a:t>
            </a:r>
          </a:p>
        </p:txBody>
      </p:sp>
      <p:sp>
        <p:nvSpPr>
          <p:cNvPr id="8" name="TextBox 7"/>
          <p:cNvSpPr txBox="1"/>
          <p:nvPr/>
        </p:nvSpPr>
        <p:spPr>
          <a:xfrm>
            <a:off x="4233672" y="1847088"/>
            <a:ext cx="3593592" cy="164592"/>
          </a:xfrm>
          <a:prstGeom prst="rect">
            <a:avLst/>
          </a:prstGeom>
          <a:noFill/>
        </p:spPr>
        <p:txBody>
          <a:bodyPr wrap="square" lIns="0" rIns="0" tIns="0" bIns="0">
            <a:spAutoFit/>
          </a:bodyPr>
          <a:lstStyle/>
          <a:p>
            <a:pPr>
              <a:defRPr sz="740" b="0">
                <a:solidFill>
                  <a:srgbClr val="CCD1C2"/>
                </a:solidFill>
                <a:latin typeface="Arial"/>
              </a:defRPr>
            </a:pPr>
            <a:r>
              <a:t>OMA</a:t>
            </a:r>
          </a:p>
        </p:txBody>
      </p:sp>
      <p:sp>
        <p:nvSpPr>
          <p:cNvPr id="9" name="TextBox 8"/>
          <p:cNvSpPr txBox="1"/>
          <p:nvPr/>
        </p:nvSpPr>
        <p:spPr>
          <a:xfrm>
            <a:off x="4233672" y="199339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2"/>
              </a:rPr>
              <a:t>© OMA / LMN · keine offene Lizenz angegeben</a:t>
            </a:r>
          </a:p>
        </p:txBody>
      </p:sp>
      <p:sp>
        <p:nvSpPr>
          <p:cNvPr id="10" name="TextBox 9"/>
          <p:cNvSpPr txBox="1"/>
          <p:nvPr/>
        </p:nvSpPr>
        <p:spPr>
          <a:xfrm>
            <a:off x="8010144" y="1645920"/>
            <a:ext cx="3593592" cy="210312"/>
          </a:xfrm>
          <a:prstGeom prst="rect">
            <a:avLst/>
          </a:prstGeom>
          <a:noFill/>
        </p:spPr>
        <p:txBody>
          <a:bodyPr wrap="square" lIns="0" rIns="0" tIns="0" bIns="0">
            <a:spAutoFit/>
          </a:bodyPr>
          <a:lstStyle/>
          <a:p>
            <a:pPr>
              <a:defRPr sz="819" b="1">
                <a:solidFill>
                  <a:srgbClr val="F4F6ED"/>
                </a:solidFill>
                <a:latin typeface="Arial"/>
              </a:defRPr>
            </a:pPr>
            <a:r>
              <a:t>P03 / Grundriss Level 3 / Living Room</a:t>
            </a:r>
          </a:p>
        </p:txBody>
      </p:sp>
      <p:sp>
        <p:nvSpPr>
          <p:cNvPr id="11" name="TextBox 10"/>
          <p:cNvSpPr txBox="1"/>
          <p:nvPr/>
        </p:nvSpPr>
        <p:spPr>
          <a:xfrm>
            <a:off x="8010144" y="1847088"/>
            <a:ext cx="3593592" cy="164592"/>
          </a:xfrm>
          <a:prstGeom prst="rect">
            <a:avLst/>
          </a:prstGeom>
          <a:noFill/>
        </p:spPr>
        <p:txBody>
          <a:bodyPr wrap="square" lIns="0" rIns="0" tIns="0" bIns="0">
            <a:spAutoFit/>
          </a:bodyPr>
          <a:lstStyle/>
          <a:p>
            <a:pPr>
              <a:defRPr sz="740" b="0">
                <a:solidFill>
                  <a:srgbClr val="CCD1C2"/>
                </a:solidFill>
                <a:latin typeface="Arial"/>
              </a:defRPr>
            </a:pPr>
            <a:r>
              <a:t>OMA + LMN</a:t>
            </a:r>
          </a:p>
        </p:txBody>
      </p:sp>
      <p:sp>
        <p:nvSpPr>
          <p:cNvPr id="12" name="TextBox 11"/>
          <p:cNvSpPr txBox="1"/>
          <p:nvPr/>
        </p:nvSpPr>
        <p:spPr>
          <a:xfrm>
            <a:off x="8010144" y="199339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3"/>
              </a:rPr>
              <a:t>© OMA / LMN · keine offene Lizenz angegeben</a:t>
            </a:r>
          </a:p>
        </p:txBody>
      </p:sp>
      <p:sp>
        <p:nvSpPr>
          <p:cNvPr id="13" name="TextBox 12"/>
          <p:cNvSpPr txBox="1"/>
          <p:nvPr/>
        </p:nvSpPr>
        <p:spPr>
          <a:xfrm>
            <a:off x="457200" y="2148840"/>
            <a:ext cx="3593592" cy="210312"/>
          </a:xfrm>
          <a:prstGeom prst="rect">
            <a:avLst/>
          </a:prstGeom>
          <a:noFill/>
        </p:spPr>
        <p:txBody>
          <a:bodyPr wrap="square" lIns="0" rIns="0" tIns="0" bIns="0">
            <a:spAutoFit/>
          </a:bodyPr>
          <a:lstStyle/>
          <a:p>
            <a:pPr>
              <a:defRPr sz="819" b="1">
                <a:solidFill>
                  <a:srgbClr val="F4F6ED"/>
                </a:solidFill>
                <a:latin typeface="Arial"/>
              </a:defRPr>
            </a:pPr>
            <a:r>
              <a:t>P04 / Grundriss Level 5 / Mixing Chamber</a:t>
            </a:r>
          </a:p>
        </p:txBody>
      </p:sp>
      <p:sp>
        <p:nvSpPr>
          <p:cNvPr id="14" name="TextBox 13"/>
          <p:cNvSpPr txBox="1"/>
          <p:nvPr/>
        </p:nvSpPr>
        <p:spPr>
          <a:xfrm>
            <a:off x="457200" y="2350008"/>
            <a:ext cx="3593592" cy="164592"/>
          </a:xfrm>
          <a:prstGeom prst="rect">
            <a:avLst/>
          </a:prstGeom>
          <a:noFill/>
        </p:spPr>
        <p:txBody>
          <a:bodyPr wrap="square" lIns="0" rIns="0" tIns="0" bIns="0">
            <a:spAutoFit/>
          </a:bodyPr>
          <a:lstStyle/>
          <a:p>
            <a:pPr>
              <a:defRPr sz="740" b="0">
                <a:solidFill>
                  <a:srgbClr val="CCD1C2"/>
                </a:solidFill>
                <a:latin typeface="Arial"/>
              </a:defRPr>
            </a:pPr>
            <a:r>
              <a:t>OMA</a:t>
            </a:r>
          </a:p>
        </p:txBody>
      </p:sp>
      <p:sp>
        <p:nvSpPr>
          <p:cNvPr id="15" name="TextBox 14"/>
          <p:cNvSpPr txBox="1"/>
          <p:nvPr/>
        </p:nvSpPr>
        <p:spPr>
          <a:xfrm>
            <a:off x="457200" y="249631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4"/>
              </a:rPr>
              <a:t>© OMA / LMN · keine offene Lizenz angegeben</a:t>
            </a:r>
          </a:p>
        </p:txBody>
      </p:sp>
      <p:sp>
        <p:nvSpPr>
          <p:cNvPr id="16" name="TextBox 15"/>
          <p:cNvSpPr txBox="1"/>
          <p:nvPr/>
        </p:nvSpPr>
        <p:spPr>
          <a:xfrm>
            <a:off x="4233672" y="2148840"/>
            <a:ext cx="3593592" cy="210312"/>
          </a:xfrm>
          <a:prstGeom prst="rect">
            <a:avLst/>
          </a:prstGeom>
          <a:noFill/>
        </p:spPr>
        <p:txBody>
          <a:bodyPr wrap="square" lIns="0" rIns="0" tIns="0" bIns="0">
            <a:spAutoFit/>
          </a:bodyPr>
          <a:lstStyle/>
          <a:p>
            <a:pPr>
              <a:defRPr sz="819" b="1">
                <a:solidFill>
                  <a:srgbClr val="F4F6ED"/>
                </a:solidFill>
                <a:latin typeface="Arial"/>
              </a:defRPr>
            </a:pPr>
            <a:r>
              <a:t>P05 / Grundriss Level 8 / Books Spiral</a:t>
            </a:r>
          </a:p>
        </p:txBody>
      </p:sp>
      <p:sp>
        <p:nvSpPr>
          <p:cNvPr id="17" name="TextBox 16"/>
          <p:cNvSpPr txBox="1"/>
          <p:nvPr/>
        </p:nvSpPr>
        <p:spPr>
          <a:xfrm>
            <a:off x="4233672" y="2350008"/>
            <a:ext cx="3593592" cy="164592"/>
          </a:xfrm>
          <a:prstGeom prst="rect">
            <a:avLst/>
          </a:prstGeom>
          <a:noFill/>
        </p:spPr>
        <p:txBody>
          <a:bodyPr wrap="square" lIns="0" rIns="0" tIns="0" bIns="0">
            <a:spAutoFit/>
          </a:bodyPr>
          <a:lstStyle/>
          <a:p>
            <a:pPr>
              <a:defRPr sz="740" b="0">
                <a:solidFill>
                  <a:srgbClr val="CCD1C2"/>
                </a:solidFill>
                <a:latin typeface="Arial"/>
              </a:defRPr>
            </a:pPr>
            <a:r>
              <a:t>OMA</a:t>
            </a:r>
          </a:p>
        </p:txBody>
      </p:sp>
      <p:sp>
        <p:nvSpPr>
          <p:cNvPr id="18" name="TextBox 17"/>
          <p:cNvSpPr txBox="1"/>
          <p:nvPr/>
        </p:nvSpPr>
        <p:spPr>
          <a:xfrm>
            <a:off x="4233672" y="249631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5"/>
              </a:rPr>
              <a:t>© OMA / LMN · keine offene Lizenz angegeben</a:t>
            </a:r>
          </a:p>
        </p:txBody>
      </p:sp>
      <p:sp>
        <p:nvSpPr>
          <p:cNvPr id="19" name="TextBox 18"/>
          <p:cNvSpPr txBox="1"/>
          <p:nvPr/>
        </p:nvSpPr>
        <p:spPr>
          <a:xfrm>
            <a:off x="8010144" y="2148840"/>
            <a:ext cx="3593592" cy="210312"/>
          </a:xfrm>
          <a:prstGeom prst="rect">
            <a:avLst/>
          </a:prstGeom>
          <a:noFill/>
        </p:spPr>
        <p:txBody>
          <a:bodyPr wrap="square" lIns="0" rIns="0" tIns="0" bIns="0">
            <a:spAutoFit/>
          </a:bodyPr>
          <a:lstStyle/>
          <a:p>
            <a:pPr>
              <a:defRPr sz="819" b="1">
                <a:solidFill>
                  <a:srgbClr val="F4F6ED"/>
                </a:solidFill>
                <a:latin typeface="Arial"/>
              </a:defRPr>
            </a:pPr>
            <a:r>
              <a:t>P06 / Gebäudeschnitt Ost–West</a:t>
            </a:r>
          </a:p>
        </p:txBody>
      </p:sp>
      <p:sp>
        <p:nvSpPr>
          <p:cNvPr id="20" name="TextBox 19"/>
          <p:cNvSpPr txBox="1"/>
          <p:nvPr/>
        </p:nvSpPr>
        <p:spPr>
          <a:xfrm>
            <a:off x="8010144" y="2350008"/>
            <a:ext cx="3593592" cy="164592"/>
          </a:xfrm>
          <a:prstGeom prst="rect">
            <a:avLst/>
          </a:prstGeom>
          <a:noFill/>
        </p:spPr>
        <p:txBody>
          <a:bodyPr wrap="square" lIns="0" rIns="0" tIns="0" bIns="0">
            <a:spAutoFit/>
          </a:bodyPr>
          <a:lstStyle/>
          <a:p>
            <a:pPr>
              <a:defRPr sz="740" b="0">
                <a:solidFill>
                  <a:srgbClr val="CCD1C2"/>
                </a:solidFill>
                <a:latin typeface="Arial"/>
              </a:defRPr>
            </a:pPr>
            <a:r>
              <a:t>OMA + LMN</a:t>
            </a:r>
          </a:p>
        </p:txBody>
      </p:sp>
      <p:sp>
        <p:nvSpPr>
          <p:cNvPr id="21" name="TextBox 20"/>
          <p:cNvSpPr txBox="1"/>
          <p:nvPr/>
        </p:nvSpPr>
        <p:spPr>
          <a:xfrm>
            <a:off x="8010144" y="249631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3"/>
              </a:rPr>
              <a:t>© OMA / LMN · keine offene Lizenz angegeben</a:t>
            </a:r>
          </a:p>
        </p:txBody>
      </p:sp>
      <p:sp>
        <p:nvSpPr>
          <p:cNvPr id="22" name="TextBox 21"/>
          <p:cNvSpPr txBox="1"/>
          <p:nvPr/>
        </p:nvSpPr>
        <p:spPr>
          <a:xfrm>
            <a:off x="457200" y="2651760"/>
            <a:ext cx="3593592" cy="210312"/>
          </a:xfrm>
          <a:prstGeom prst="rect">
            <a:avLst/>
          </a:prstGeom>
          <a:noFill/>
        </p:spPr>
        <p:txBody>
          <a:bodyPr wrap="square" lIns="0" rIns="0" tIns="0" bIns="0">
            <a:spAutoFit/>
          </a:bodyPr>
          <a:lstStyle/>
          <a:p>
            <a:pPr>
              <a:defRPr sz="819" b="1">
                <a:solidFill>
                  <a:srgbClr val="F4F6ED"/>
                </a:solidFill>
                <a:latin typeface="Arial"/>
              </a:defRPr>
            </a:pPr>
            <a:r>
              <a:t>P07 / Gebäudeschnitt Nord–Süd</a:t>
            </a:r>
          </a:p>
        </p:txBody>
      </p:sp>
      <p:sp>
        <p:nvSpPr>
          <p:cNvPr id="23" name="TextBox 22"/>
          <p:cNvSpPr txBox="1"/>
          <p:nvPr/>
        </p:nvSpPr>
        <p:spPr>
          <a:xfrm>
            <a:off x="457200" y="2852928"/>
            <a:ext cx="3593592" cy="164592"/>
          </a:xfrm>
          <a:prstGeom prst="rect">
            <a:avLst/>
          </a:prstGeom>
          <a:noFill/>
        </p:spPr>
        <p:txBody>
          <a:bodyPr wrap="square" lIns="0" rIns="0" tIns="0" bIns="0">
            <a:spAutoFit/>
          </a:bodyPr>
          <a:lstStyle/>
          <a:p>
            <a:pPr>
              <a:defRPr sz="740" b="0">
                <a:solidFill>
                  <a:srgbClr val="CCD1C2"/>
                </a:solidFill>
                <a:latin typeface="Arial"/>
              </a:defRPr>
            </a:pPr>
            <a:r>
              <a:t>OMA + LMN</a:t>
            </a:r>
          </a:p>
        </p:txBody>
      </p:sp>
      <p:sp>
        <p:nvSpPr>
          <p:cNvPr id="24" name="TextBox 23"/>
          <p:cNvSpPr txBox="1"/>
          <p:nvPr/>
        </p:nvSpPr>
        <p:spPr>
          <a:xfrm>
            <a:off x="457200" y="299923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3"/>
              </a:rPr>
              <a:t>© OMA / LMN · keine offene Lizenz angegeben</a:t>
            </a:r>
          </a:p>
        </p:txBody>
      </p:sp>
      <p:sp>
        <p:nvSpPr>
          <p:cNvPr id="25" name="TextBox 24"/>
          <p:cNvSpPr txBox="1"/>
          <p:nvPr/>
        </p:nvSpPr>
        <p:spPr>
          <a:xfrm>
            <a:off x="4233672" y="2651760"/>
            <a:ext cx="3593592" cy="210312"/>
          </a:xfrm>
          <a:prstGeom prst="rect">
            <a:avLst/>
          </a:prstGeom>
          <a:noFill/>
        </p:spPr>
        <p:txBody>
          <a:bodyPr wrap="square" lIns="0" rIns="0" tIns="0" bIns="0">
            <a:spAutoFit/>
          </a:bodyPr>
          <a:lstStyle/>
          <a:p>
            <a:pPr>
              <a:defRPr sz="819" b="1">
                <a:solidFill>
                  <a:srgbClr val="F4F6ED"/>
                </a:solidFill>
                <a:latin typeface="Arial"/>
              </a:defRPr>
            </a:pPr>
            <a:r>
              <a:t>P09 / Fassadenschnitt: Level 4 und 5</a:t>
            </a:r>
          </a:p>
        </p:txBody>
      </p:sp>
      <p:sp>
        <p:nvSpPr>
          <p:cNvPr id="26" name="TextBox 25"/>
          <p:cNvSpPr txBox="1"/>
          <p:nvPr/>
        </p:nvSpPr>
        <p:spPr>
          <a:xfrm>
            <a:off x="4233672" y="2852928"/>
            <a:ext cx="3593592" cy="164592"/>
          </a:xfrm>
          <a:prstGeom prst="rect">
            <a:avLst/>
          </a:prstGeom>
          <a:noFill/>
        </p:spPr>
        <p:txBody>
          <a:bodyPr wrap="square" lIns="0" rIns="0" tIns="0" bIns="0">
            <a:spAutoFit/>
          </a:bodyPr>
          <a:lstStyle/>
          <a:p>
            <a:pPr>
              <a:defRPr sz="740" b="0">
                <a:solidFill>
                  <a:srgbClr val="CCD1C2"/>
                </a:solidFill>
                <a:latin typeface="Arial"/>
              </a:defRPr>
            </a:pPr>
            <a:r>
              <a:t>OMA + LMN</a:t>
            </a:r>
          </a:p>
        </p:txBody>
      </p:sp>
      <p:sp>
        <p:nvSpPr>
          <p:cNvPr id="27" name="TextBox 26"/>
          <p:cNvSpPr txBox="1"/>
          <p:nvPr/>
        </p:nvSpPr>
        <p:spPr>
          <a:xfrm>
            <a:off x="4233672" y="2999232"/>
            <a:ext cx="3593592" cy="164592"/>
          </a:xfrm>
          <a:prstGeom prst="rect">
            <a:avLst/>
          </a:prstGeom>
          <a:noFill/>
        </p:spPr>
        <p:txBody>
          <a:bodyPr wrap="square" lIns="0" rIns="0" tIns="0" bIns="0">
            <a:spAutoFit/>
          </a:bodyPr>
          <a:lstStyle/>
          <a:p>
            <a:pPr>
              <a:defRPr sz="730" b="0">
                <a:solidFill>
                  <a:srgbClr val="D9EF65"/>
                </a:solidFill>
                <a:latin typeface="Arial"/>
              </a:defRPr>
            </a:pPr>
            <a:r>
              <a:rPr>
                <a:hlinkClick r:id="rId3"/>
              </a:rPr>
              <a:t>© OMA / LMN · keine offene Lizenz angegeben</a:t>
            </a:r>
          </a:p>
        </p:txBody>
      </p:sp>
      <p:sp>
        <p:nvSpPr>
          <p:cNvPr id="28" name="TextBox 27"/>
          <p:cNvSpPr txBox="1"/>
          <p:nvPr/>
        </p:nvSpPr>
        <p:spPr>
          <a:xfrm>
            <a:off x="457200" y="5989320"/>
            <a:ext cx="10972800" cy="219456"/>
          </a:xfrm>
          <a:prstGeom prst="rect">
            <a:avLst/>
          </a:prstGeom>
          <a:noFill/>
        </p:spPr>
        <p:txBody>
          <a:bodyPr wrap="square" lIns="0" rIns="0" tIns="0" bIns="0">
            <a:spAutoFit/>
          </a:bodyPr>
          <a:lstStyle/>
          <a:p>
            <a:pPr>
              <a:defRPr sz="850" b="0">
                <a:solidFill>
                  <a:srgbClr val="CCD1C2"/>
                </a:solidFill>
                <a:latin typeface="Arial"/>
              </a:defRPr>
            </a:pPr>
            <a:r>
              <a:t>A01–A05: Johannes Fink · eigene Analyseskizzen · CC BY 4.0 · ohne Maßstab</a:t>
            </a:r>
          </a:p>
        </p:txBody>
      </p:sp>
      <p:sp>
        <p:nvSpPr>
          <p:cNvPr id="29" name="TextBox 28"/>
          <p:cNvSpPr txBox="1"/>
          <p:nvPr/>
        </p:nvSpPr>
        <p:spPr>
          <a:xfrm>
            <a:off x="457200" y="6437376"/>
            <a:ext cx="8961120" cy="210312"/>
          </a:xfrm>
          <a:prstGeom prst="rect">
            <a:avLst/>
          </a:prstGeom>
          <a:noFill/>
        </p:spPr>
        <p:txBody>
          <a:bodyPr wrap="square" lIns="0" rIns="0" tIns="0" bIns="0">
            <a:spAutoFit/>
          </a:bodyPr>
          <a:lstStyle/>
          <a:p>
            <a:pPr>
              <a:defRPr sz="740" b="0">
                <a:solidFill>
                  <a:srgbClr val="B7C0AA"/>
                </a:solidFill>
                <a:latin typeface="Courier New"/>
              </a:defRPr>
            </a:pPr>
            <a:r>
              <a:t>Quellen: OMA/LMN-Pläne: keine offene Lizenz ausgewiesen · Analyseskizzen: ohne Maßstab</a:t>
            </a:r>
          </a:p>
        </p:txBody>
      </p:sp>
      <p:sp>
        <p:nvSpPr>
          <p:cNvPr id="30" name="TextBox 29"/>
          <p:cNvSpPr txBox="1"/>
          <p:nvPr/>
        </p:nvSpPr>
        <p:spPr>
          <a:xfrm>
            <a:off x="9646920" y="6437376"/>
            <a:ext cx="2194560" cy="210312"/>
          </a:xfrm>
          <a:prstGeom prst="rect">
            <a:avLst/>
          </a:prstGeom>
          <a:noFill/>
        </p:spPr>
        <p:txBody>
          <a:bodyPr wrap="square" lIns="0" rIns="0" tIns="0" bIns="0">
            <a:spAutoFit/>
          </a:bodyPr>
          <a:lstStyle/>
          <a:p>
            <a:pPr>
              <a:defRPr sz="800" b="0">
                <a:solidFill>
                  <a:srgbClr val="B7C0AA"/>
                </a:solidFill>
                <a:latin typeface="Courier New"/>
              </a:defRPr>
            </a:pPr>
            <a:r>
              <a:t>Johannes Fink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OMA / LMN — Seattle Central Library, Seattle, 2004</dc:title>
  <dc:subject>Architektonische Objektanalyse</dc:subject>
  <dc:creator>Johannes Fink</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